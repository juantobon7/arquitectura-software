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Latencia /api/pagos (ms)</c:v>
                </c:pt>
              </c:strCache>
            </c:strRef>
          </c:tx>
          <c:spPr>
            <a:solidFill>
              <a:srgbClr val="94A3B8"/>
            </a:solidFill>
            <a:effectLst/>
          </c:spPr>
          <c:invertIfNegative val="0"/>
          <c:dLbls>
            <c:numFmt formatCode="#,##0&quot; ms&quot;" sourceLinked="0"/>
            <c:txPr>
              <a:bodyPr/>
              <a:lstStyle/>
              <a:p>
                <a:pPr>
                  <a:defRPr b="0" i="0" strike="noStrike" sz="1400" u="none">
                    <a:solidFill>
                      <a:srgbClr val="111827"/>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CA8A04"/>
              </a:solidFill>
              <a:effectLst/>
            </c:spPr>
          </c:dPt>
          <c:dPt>
            <c:idx val="3"/>
            <c:invertIfNegative val="0"/>
            <c:bubble3D val="0"/>
            <c:spPr>
              <a:solidFill>
                <a:srgbClr val="DC2626"/>
              </a:solidFill>
              <a:effectLst/>
            </c:spPr>
          </c:dPt>
          <c:dPt>
            <c:idx val="4"/>
            <c:invertIfNegative val="0"/>
            <c:bubble3D val="0"/>
            <c:spPr>
              <a:solidFill>
                <a:srgbClr val="7F1D1D"/>
              </a:solidFill>
              <a:effectLst/>
            </c:spPr>
          </c:dPt>
          <c:cat>
            <c:multiLvlStrRef>
              <c:f>Sheet1!$A$2:$A$6</c:f>
              <c:multiLvlStrCache>
                <c:ptCount val="5"/>
                <c:lvl>
                  <c:pt idx="0">
                    <c:v>Promedio</c:v>
                  </c:pt>
                  <c:pt idx="1">
                    <c:v>Mediana (p50)</c:v>
                  </c:pt>
                  <c:pt idx="2">
                    <c:v>p95</c:v>
                  </c:pt>
                  <c:pt idx="3">
                    <c:v>p99</c:v>
                  </c:pt>
                  <c:pt idx="4">
                    <c:v>Máximo</c:v>
                  </c:pt>
                </c:lvl>
              </c:multiLvlStrCache>
            </c:multiLvlStrRef>
          </c:cat>
          <c:val>
            <c:numRef>
              <c:f>Sheet1!$B$2:$B$6</c:f>
              <c:numCache>
                <c:formatCode>General</c:formatCode>
                <c:ptCount val="5"/>
                <c:pt idx="0">
                  <c:v>103</c:v>
                </c:pt>
                <c:pt idx="1">
                  <c:v>55</c:v>
                </c:pt>
                <c:pt idx="2">
                  <c:v>372</c:v>
                </c:pt>
                <c:pt idx="3">
                  <c:v>1574</c:v>
                </c:pt>
                <c:pt idx="4">
                  <c:v>1995</c:v>
                </c:pt>
              </c:numCache>
            </c:numRef>
          </c:val>
        </c:ser>
        <c:dLbls>
          <c:numFmt formatCode="#,##0&quot; ms&quot;" sourceLinked="0"/>
          <c:txPr>
            <a:bodyPr/>
            <a:lstStyle/>
            <a:p>
              <a:pPr>
                <a:defRPr b="0" i="0" strike="noStrike" sz="1400" u="none">
                  <a:solidFill>
                    <a:srgbClr val="11182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B6475"/>
                </a:solidFill>
                <a:latin typeface="Arial"/>
              </a:defRPr>
            </a:pPr>
            <a:r>
              <a:rPr sz="1400" b="0" i="0" u="none" strike="noStrike">
                <a:solidFill>
                  <a:srgbClr val="5B6475"/>
                </a:solidFill>
                <a:latin typeface="Arial"/>
              </a:rPr>
              <a:t>Latencia p95</a:t>
            </a:r>
          </a:p>
        </c:rich>
      </c:tx>
      <c:layout/>
      <c:overlay val="0"/>
    </c:title>
    <c:autoTitleDeleted val="0"/>
    <c:plotArea>
      <c:layout/>
      <c:barChart>
        <c:barDir val="bar"/>
        <c:grouping val="clustered"/>
        <c:varyColors val="0"/>
        <c:ser>
          <c:idx val="0"/>
          <c:order val="0"/>
          <c:tx>
            <c:strRef>
              <c:f>Sheet1!$B$1</c:f>
              <c:strCache>
                <c:ptCount val="1"/>
                <c:pt idx="0">
                  <c:v>p95 (ms)</c:v>
                </c:pt>
              </c:strCache>
            </c:strRef>
          </c:tx>
          <c:spPr>
            <a:solidFill>
              <a:srgbClr val="DC2626"/>
            </a:solidFill>
            <a:effectLst/>
          </c:spPr>
          <c:invertIfNegative val="0"/>
          <c:dLbls>
            <c:numFmt formatCode="#,##0&quot; ms&quot;"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DC2626"/>
              </a:solidFill>
              <a:effectLst/>
            </c:spPr>
          </c:dPt>
          <c:dPt>
            <c:idx val="1"/>
            <c:invertIfNegative val="0"/>
            <c:bubble3D val="0"/>
            <c:spPr>
              <a:solidFill>
                <a:srgbClr val="15803D"/>
              </a:solidFill>
              <a:effectLst/>
            </c:spPr>
          </c:dPt>
          <c:cat>
            <c:multiLvlStrRef>
              <c:f>Sheet1!$A$2:$A$3</c:f>
              <c:multiLvlStrCache>
                <c:ptCount val="2"/>
                <c:lvl>
                  <c:pt idx="0">
                    <c:v>N+1 (LAZY)</c:v>
                  </c:pt>
                  <c:pt idx="1">
                    <c:v>JOIN FETCH</c:v>
                  </c:pt>
                </c:lvl>
              </c:multiLvlStrCache>
            </c:multiLvlStrRef>
          </c:cat>
          <c:val>
            <c:numRef>
              <c:f>Sheet1!$B$2:$B$3</c:f>
              <c:numCache>
                <c:formatCode>General</c:formatCode>
                <c:ptCount val="2"/>
                <c:pt idx="0">
                  <c:v>224</c:v>
                </c:pt>
                <c:pt idx="1">
                  <c:v>5</c:v>
                </c:pt>
              </c:numCache>
            </c:numRef>
          </c:val>
        </c:ser>
        <c:dLbls>
          <c:numFmt formatCode="#,##0&quot; ms&quot;"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Formato: 40 minutos. Unos 20 de explicación (slides 1 a 14, entre 1 y 2 minutos cada una) y 20 de taller guiado (slide 15 y la guía TALLER.md).
Abrir con una pregunta al público: "¿Cuántos han tenido una app que funciona en local pero en producción 'a veces' es lenta?". Casi todos levantan la mano.
Mensaje central de la charla: observabilidad no es tener dashboards bonitos, es poder responder preguntas nuevas sobre el sistema sin desplegar código nuevo.
Todo lo que van a ver en números (latencias, errores, consultas SQL) salió de una demo real: una API Spring Boot con Prometheus, Loki y Grafana corriendo en Docker, bajo 9.603 requests de carga generada con k6.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observabilidad es una propiedad del sistema, no una herramienta. Prometheus o Grafana no "son" observabilidad; ayudan a lograrla.
El origen es teoría de control: Rudolf Kalman definió que un sistema es observable si a partir de sus salidas puedes reconstruir su estado interno.
En software, las salidas son la telemetría. La pregunta clave es: ¿puedo explicar un comportamiento raro con la telemetría que ya tengo?
Ejemplo para el público: "el checkout está lento solo para usuarios de Bogotá con tarjeta Visa desde el deploy de ayer". Si para responder eso hay que agregar un log y redesplegar, el sistema no es observable.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Monitoreo responde preguntas que ya sabías que debías hacer: ¿el servicio responde?, ¿la CPU pasó del 80%? Son "known unknowns".
Observabilidad sirve para lo que no anticipaste: "unknown unknowns". En sistemas distribuidos la mayoría de incidentes son de este tipo.
No compiten: el monitoreo (alertas) es la puerta de entrada y la observabilidad es lo que usas para investigar después de que suena la alerta.
En la demo lo van a ver: una alerta de Prometheus nos dice QUE hay errores en /api/pagos; los logs en Loki nos dicen POR QUÉ (timeout de la pasarela).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todo necesita la pila completa. La regla práctica: cuanto más distribuido es el sistema y más dependencias externas tiene, más falta hace.
Si tienes un SLO, por ejemplo "99% de los pagos en menos de 500 ms", necesitas medirlo: sin observabilidad un SLO es un deseo.
Con mesura: en un prototipo, Spring Boot Actuator más logs en JSON ya te dan el 80% del valor con 5 minutos de configuración.
Recordar que la telemetría tiene costo. Loki y Prometheus cobran (en dinero o en disco) por cada etiqueta y cada línea. Volveremos sobre esto en errores comunes.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Métricas: series de tiempo numéricas. Son baratas porque se agregan: un contador de requests no crece con el tráfico. Sirven para dashboards y alertas.
Logs: un evento por cosa que pasa. Dan el detalle (qué request_id, qué mensaje de error) pero cuestan más. La clave es que sean estructurados (JSON), para poder filtrarlos como datos y no como texto.
Trazas: siguen un request por varios servicios con spans. En esta demo hay un solo servicio, así que no las incluimos; el siguiente paso natural sería Micrometer Tracing con OpenTelemetry y Grafana Tempo.
Hoy se habla también de un cuarto pilar, el profiling continuo (Pyroscope), pero los tres clásicos cubren la mayoría de los casos.
Lo importante: no son silos. En la demo un panel de métricas (errores 5xx) nos lleva a los logs de ERROR en Loki desde el mismo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diagrama de izquierda a derecha.
k6 genera tráfico constante contra la API (unos 40 requests por segundo).
La API expone métricas en /actuator/prometheus. Ojo: Prometheus funciona por PULL, es Prometheus quien va cada 5 segundos a "raspar" (scrape) el endpoint. Ventaja: si la app muere, Prometheus lo nota porque el scrape falla (métrica "up").
Los logs van por PUSH: el appender Loki4j de Logback agrupa las líneas y las envía por HTTP a Loki.
Loki es "Prometheus para logs": no indexa el contenido completo, solo las etiquetas (app, level). Por eso es barato, y por eso hay que tener pocas etiquetas.
Grafana no almacena nada: consulta a Prometheus con PromQL y a Loki con LogQL. Las fuentes de datos y el dashboard se provisionan como código desde archivos YAML/JSON, sin clics.
Alternativa en producción: OpenTelemetry Collector o Grafana Alloy como agente intermedio.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de la demo: una mini tienda. No le digo al público cuáles son los problemas todavía; la idea es que el dashboard los muestre.
Pagos simula una dependencia externa con latencia variable y algunos timeouts. Pedidos tiene el clásico problema N+1 de JPA y su versión corregida. Catálogo es el control: si catálogo también estuviera lento, el problema sería de infraestructura y no de un endpoint.
Detalle de honestidad técnica: la base es H2 en memoria, tan rápida que el N+1 no se notaría. Por eso cada sentencia SQL suma 2 ms, simulando la ida y vuelta de red a una base real. Es un valor conservador.
La carga: k6 con tasa de llegada constante durante 4 minutos, 9.603 requests en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dashboard real durante la prueba de carga. Leerlo como lo haría alguien de guardia:
Arriba a la izquierda, tráfico: estable, coincide con lo que manda k6. Si el tráfico cae a cero, el problema puede estar antes de la app (balanceador, DNS).
Arriba a la derecha, errores: SOLO /api/pagos tiene errores, entre 3,5% y 5,5%. Los demás endpoints están en cero, así que no es un problema general.
Abajo a la izquierda, latencia p95: pagos ronda 350-410 ms y n-mas-1 se queda en unos 224 ms, mientras optimizado y catálogo están casi en cero.
Abajo a la derecha, la pista definitiva: n-mas-1 hace 101 consultas SQL por request; optimizado hace 1.
En menos de un minuto ya sabemos qué endpoints mirar y qué tipo de problema tiene cada uno. Ahora vamos a cada cuello de botella.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primer hallazgo y el más contraintuitivo para los estudiantes.
Datos reales de la prueba: promedio 103 ms, mediana 55 ms, p95 372 ms, p99 1.574 ms y máximo 1.995 ms.
Si solo miráramos el promedio diríamos "100 ms, todo bien". La distribución tiene una cola larga: un 2% de requests tarda más de un segundo.
Por eso se usan percentiles. El p95 dice: el 95% de los usuarios espera esto o menos. El p99 mira la cola, que suele ser donde están los clientes más valiosos (los que tienen más datos, más ítems en el carrito).
Ojo con un detalle: nuestra alerta de p95 &gt; 500 ms NO se disparó (p95 = 372 ms). Eligiendo solo p95 nos habríamos perdido la cola. Por eso conviene definir SLOs en varios percentiles.
Validación cruzada: k6 midió desde el cliente p95 376 ms y p99 1.559 ms; Prometheus calculó desde el servidor 372 y 1.574 ms. Coinciden, así que confiamos en la instrumentación.
Causa: la dependencia externa. La API no está saturada (máximo 5 de 50 hilos de Tomcat ocupados, CPU &lt; 6%). Solución: timeouts agresivos, circuit breaker (Resilience4j) y medir la latencia de la dependencia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N+1 es el bug de rendimiento más común con JPA/Hibernate y es invisible en desarrollo, porque con 5 registros en local no se nota.
Qué pasa: findAll() trae los 100 pedidos en 1 consulta, y al recorrer pedido.getItems() Hibernate lanza 1 consulta por pedido porque la relación es LAZY. Total: 1 + 100 = 101.
Resultados reales: N+1 con p95 de 224 ms y 101 consultas por request. La versión con JOIN FETCH: p95 de 5 ms y 1 consulta. Unas 45 veces más rápido.
¿Por qué lo detectamos? Porque instrumentamos una métrica propia (consultas SQL por request) con un StatementInspector de Hibernate. La latencia sola te dice que es lento; la métrica de consultas te dice POR QUÉ.
Y el log estructurado en Loki tiene el request_id y el número de consultas, así que con LogQL filtramos exactamente los requests sospechosos.
Lo peligroso: el N+1 escala con los datos. Con 100 pedidos son 220 ms; con 10.000 pedidos serían segundos. Observabilidad detecta la tendencia antes de que sea incidente.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Flujo típico de un incidente, en orden:
1. La alerta. Prometheus evalúa la regla TasaErroresAlta: más del 2% de respuestas 5xx durante 1 minuto. En la prueba se disparó (estado FIRING) con 4.4% de errores en /api/pagos.
2. El dashboard acota: solo /api/pagos tiene errores; catálogo y pedidos están en cero. No es la base de datos ni la red en general.
3. Los logs explican: con LogQL filtramos level="ERROR" y todas las líneas dicen lo mismo: timeout de la pasarela de pagos. Cada línea trae request_id, así que podemos buscar ese request puntual.
Números de Loki durante la prueba: 9.511 líneas INFO, 92 WARN y 213 ERROR. Los 92 WARN son requests de más de 500 ms y TODOS son de /api/pagos: otra confirmación del hallazgo anterior.
k6 contó 213 pagos fallidos de 4.801, y su umbral de error &lt; 2% falló. En un pipeline de CI eso bloquearía el despliegue.
Nota: la alerta es por síntoma (errores que ve el usuario), no por causa (CPU). Eso es buena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recetas complementarias para decidir qué medir sin ahogarse en métricas.
RED, propuesto por Tom Wilkie, es para servicios orientados a requests: tasa, errores y duración. Es la vista del usuario. Nuestro dashboard tiene exactamente esas filas.
USE, de Brendan Gregg, es para recursos: utilización, saturación y errores de CPU, memoria, hilos, conexiones.
Usarlos juntos evita un error clásico. En la demo, RED mostró dos endpoints con problemas, y USE mostró que la JVM estaba tranquila: heap bajo, máximo 5 de 50 hilos de Tomcat ocupados, CPU por debajo del 6%.
Conclusión: si la reacción hubiera sido "subamos más réplicas", habríamos gastado plata sin arreglar nada. El problema era un patrón de acceso a datos y una dependencia externa.
También mencionar las Golden Signals de Google SRE (latencia, tráfico, errores, saturación): son básicamente RED + la S de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rápido, cada punto conectado con la demo.
1. Logs estructurados: gracias al JSON pudimos filtrar con | json | mdc_sql_consultas &gt; 50. Con texto plano habría sido una expresión regular frágil.
2. Percentiles: lo vimos en el slide del promedio que miente.
3. Alertar por síntomas: nuestra alerta es de tasa de errores, no de CPU. Al que está de guardia lo despiertas solo si el usuario sufre.
4. Cardinalidad: Micrometer etiqueta con la plantilla de la URI, no con la URI real. Si pusieras el id de pedido como etiqueta, tendrías una serie por pedido y Prometheus se cae.
5. Métricas de negocio: el contador pagos.procesados le habla al product owner, no solo al ingeniero.
6. Como código: todo el stack de esta demo se levanta con docker compose y queda versionado. Un dashboard hecho a mano en producción se pierde.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espejo de la slide anterior.
Cardinalidad: es el error número uno que tumba Prometheus. Cada combinación única de etiquetas es una serie de tiempo. Un userId como etiqueta con un millón de usuarios son un millón de series.
En Loki pasa igual: por eso en la demo solo usamos app y level como etiquetas, y el resto (uri, duración, request_id) va dentro del JSON y se filtra con | json.
Fatiga de alertas: si una alerta suena y la respuesta es "ah, esa siempre suena", hay que borrarla o arreglarla.
Datos personales en logs: además de riesgo de seguridad, en Colombia la Ley 1581 de protección de datos aplica también a los logs.
Instrumentar después: el mejor momento para instrumentar es antes del primer incidente, porque no puedes analizar retroactivamente datos que nunca recolectaste.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taller (20 minutos). Compartir el enlace de la guía TALLER.md y del repositorio antes de esta slide, por ejemplo en el chat del curso.
Ritmo: 4 minutos para que todos tengan Grafana abierto. Quien no lo logre se empareja con un compañero; no detener al grupo.
Las tres misiones repiten lo que acabamos de ver, pero ahora ellos escriben las consultas. Los números no van a ser idénticos a los de las slides (la latencia es aleatoria), pero deben quedar en el mismo orden de magnitud: p99 de pagos &gt; 1 s, 101 consultas en n-mas-1, ~4% de errores.
Reto final: agregar una regla de alerta de p99 &gt; 1 s en infra/prometheus/alertas.yml, recargar Prometheus y verla pasar a FIRING.
Preguntas probables para el cierre:
Prometheus vs APM comercial (Datadog, New Relic): los conceptos (RED, percentiles, logs estructurados) son los mismos. La diferencia es quién opera la plataforma y cuánto cuesta. OpenTelemetry/Micrometer permite cambiar de backend sin tocar el código.
¿Por qué pull? Si el servicio muere, Prometheus lo sabe porque la métrica up pasa a 0. Para trabajos batch cortos existe el Pushgateway.
Loki vs Elasticsearch: Elasticsearch indexa todo el texto; Loki solo las etiquetas y comprime los chunks. Más barato; a cambio, la búsqueda de texto libre en mucho volumen es más lenta.
Overhead: el de Micrometer es despreciable; lo que cuesta es el volumen de logs y la cardinalidad.
Trazas: siguiente paso natural con Micrometer Tracing + OpenTelemetry + Grafana Tempo; el traceId va en el log para saltar de log a traza.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1828800"/>
            <a:ext cx="1097280" cy="91440"/>
          </a:xfrm>
          <a:prstGeom prst="rect">
            <a:avLst/>
          </a:prstGeom>
          <a:solidFill>
            <a:srgbClr val="F46800"/>
          </a:solidFill>
          <a:ln w="12700">
            <a:solidFill>
              <a:srgbClr val="F46800"/>
            </a:solidFill>
            <a:prstDash val="solid"/>
          </a:ln>
        </p:spPr>
      </p:sp>
      <p:sp>
        <p:nvSpPr>
          <p:cNvPr id="3" name="Text 1"/>
          <p:cNvSpPr/>
          <p:nvPr/>
        </p:nvSpPr>
        <p:spPr>
          <a:xfrm>
            <a:off x="731520" y="2103120"/>
            <a:ext cx="10515600" cy="91440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Observabilidad en Spring Boot</a:t>
            </a:r>
            <a:endParaRPr lang="en-US" sz="4800" dirty="0"/>
          </a:p>
        </p:txBody>
      </p:sp>
      <p:sp>
        <p:nvSpPr>
          <p:cNvPr id="4" name="Text 2"/>
          <p:cNvSpPr/>
          <p:nvPr/>
        </p:nvSpPr>
        <p:spPr>
          <a:xfrm>
            <a:off x="731520" y="3017520"/>
            <a:ext cx="10515600" cy="731520"/>
          </a:xfrm>
          <a:prstGeom prst="rect">
            <a:avLst/>
          </a:prstGeom>
          <a:noFill/>
          <a:ln/>
        </p:spPr>
        <p:txBody>
          <a:bodyPr wrap="square" rtlCol="0" anchor="ctr"/>
          <a:lstStyle/>
          <a:p>
            <a:pPr indent="0" marL="0">
              <a:buNone/>
            </a:pPr>
            <a:r>
              <a:rPr lang="en-US" sz="3000" dirty="0">
                <a:solidFill>
                  <a:srgbClr val="F46800"/>
                </a:solidFill>
                <a:latin typeface="Calibri" pitchFamily="34" charset="0"/>
                <a:ea typeface="Calibri" pitchFamily="34" charset="-122"/>
                <a:cs typeface="Calibri" pitchFamily="34" charset="-120"/>
              </a:rPr>
              <a:t>Prometheus · Loki · Grafana</a:t>
            </a:r>
            <a:endParaRPr lang="en-US" sz="3000" dirty="0"/>
          </a:p>
        </p:txBody>
      </p:sp>
      <p:sp>
        <p:nvSpPr>
          <p:cNvPr id="5" name="Text 3"/>
          <p:cNvSpPr/>
          <p:nvPr/>
        </p:nvSpPr>
        <p:spPr>
          <a:xfrm>
            <a:off x="731520" y="3931920"/>
            <a:ext cx="10515600" cy="548640"/>
          </a:xfrm>
          <a:prstGeom prst="rect">
            <a:avLst/>
          </a:prstGeom>
          <a:noFill/>
          <a:ln/>
        </p:spPr>
        <p:txBody>
          <a:bodyPr wrap="square" rtlCol="0" anchor="ctr"/>
          <a:lstStyle/>
          <a:p>
            <a:pPr indent="0" marL="0">
              <a:buNone/>
            </a:pPr>
            <a:r>
              <a:rPr lang="en-US" sz="2000" i="1" dirty="0">
                <a:solidFill>
                  <a:srgbClr val="CBD5E1"/>
                </a:solidFill>
                <a:latin typeface="Calibri" pitchFamily="34" charset="0"/>
                <a:ea typeface="Calibri" pitchFamily="34" charset="-122"/>
                <a:cs typeface="Calibri" pitchFamily="34" charset="-120"/>
              </a:rPr>
              <a:t>De "¿está caído?" a "¿por qué está lento, para quién y desde cuándo?"</a:t>
            </a:r>
            <a:endParaRPr lang="en-US" sz="2000" dirty="0"/>
          </a:p>
        </p:txBody>
      </p:sp>
      <p:sp>
        <p:nvSpPr>
          <p:cNvPr id="6" name="Text 4"/>
          <p:cNvSpPr/>
          <p:nvPr/>
        </p:nvSpPr>
        <p:spPr>
          <a:xfrm>
            <a:off x="731520" y="5760720"/>
            <a:ext cx="10515600" cy="36576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Arquitectura de Software · Con resultados reales de una demo instrumentada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DEFINICIÓN</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¿Qué es observabilidad?</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548640" y="1600200"/>
            <a:ext cx="10972800" cy="1005840"/>
          </a:xfrm>
          <a:prstGeom prst="rect">
            <a:avLst/>
          </a:prstGeom>
          <a:noFill/>
          <a:ln/>
        </p:spPr>
        <p:txBody>
          <a:bodyPr wrap="square" rtlCol="0" anchor="ctr"/>
          <a:lstStyle/>
          <a:p>
            <a:pPr indent="0" marL="0">
              <a:buNone/>
            </a:pPr>
            <a:r>
              <a:rPr lang="en-US" sz="2200" i="1" dirty="0">
                <a:solidFill>
                  <a:srgbClr val="111827"/>
                </a:solidFill>
                <a:latin typeface="Calibri" pitchFamily="34" charset="0"/>
                <a:ea typeface="Calibri" pitchFamily="34" charset="-122"/>
                <a:cs typeface="Calibri" pitchFamily="34" charset="-120"/>
              </a:rPr>
              <a:t>La capacidad de entender el estado interno de un sistema a partir de las señales que emite, incluso ante preguntas que no anticipaste.</a:t>
            </a:r>
            <a:endParaRPr lang="en-US" sz="2200" dirty="0"/>
          </a:p>
        </p:txBody>
      </p:sp>
      <p:sp>
        <p:nvSpPr>
          <p:cNvPr id="7" name="Shape 5"/>
          <p:cNvSpPr/>
          <p:nvPr/>
        </p:nvSpPr>
        <p:spPr>
          <a:xfrm>
            <a:off x="548640" y="2926080"/>
            <a:ext cx="3520440" cy="3108960"/>
          </a:xfrm>
          <a:prstGeom prst="rect">
            <a:avLst/>
          </a:prstGeom>
          <a:solidFill>
            <a:srgbClr val="FFFFFF"/>
          </a:solidFill>
          <a:ln w="12700">
            <a:solidFill>
              <a:srgbClr val="D9DEE7"/>
            </a:solidFill>
            <a:prstDash val="solid"/>
          </a:ln>
        </p:spPr>
      </p:sp>
      <p:sp>
        <p:nvSpPr>
          <p:cNvPr id="8" name="Shape 6"/>
          <p:cNvSpPr/>
          <p:nvPr/>
        </p:nvSpPr>
        <p:spPr>
          <a:xfrm>
            <a:off x="548640" y="2926080"/>
            <a:ext cx="3520440" cy="73152"/>
          </a:xfrm>
          <a:prstGeom prst="rect">
            <a:avLst/>
          </a:prstGeom>
          <a:solidFill>
            <a:srgbClr val="2563EB"/>
          </a:solidFill>
          <a:ln w="12700">
            <a:solidFill>
              <a:srgbClr val="2563EB"/>
            </a:solidFill>
            <a:prstDash val="solid"/>
          </a:ln>
        </p:spPr>
      </p:sp>
      <p:sp>
        <p:nvSpPr>
          <p:cNvPr id="9" name="Text 7"/>
          <p:cNvSpPr/>
          <p:nvPr/>
        </p:nvSpPr>
        <p:spPr>
          <a:xfrm>
            <a:off x="731520" y="3108960"/>
            <a:ext cx="3154680" cy="457200"/>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Viene de control</a:t>
            </a:r>
            <a:endParaRPr lang="en-US" sz="2000" dirty="0"/>
          </a:p>
        </p:txBody>
      </p:sp>
      <p:sp>
        <p:nvSpPr>
          <p:cNvPr id="10" name="Text 8"/>
          <p:cNvSpPr/>
          <p:nvPr/>
        </p:nvSpPr>
        <p:spPr>
          <a:xfrm>
            <a:off x="731520" y="3611880"/>
            <a:ext cx="3154680" cy="228600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Término de la teoría de control (Kalman, 1960): un sistema es observable si sus salidas permiten inferir su estado.</a:t>
            </a:r>
            <a:endParaRPr lang="en-US" sz="1800" dirty="0"/>
          </a:p>
        </p:txBody>
      </p:sp>
      <p:sp>
        <p:nvSpPr>
          <p:cNvPr id="11" name="Shape 9"/>
          <p:cNvSpPr/>
          <p:nvPr/>
        </p:nvSpPr>
        <p:spPr>
          <a:xfrm>
            <a:off x="4343400" y="2926080"/>
            <a:ext cx="3520440" cy="3108960"/>
          </a:xfrm>
          <a:prstGeom prst="rect">
            <a:avLst/>
          </a:prstGeom>
          <a:solidFill>
            <a:srgbClr val="FFFFFF"/>
          </a:solidFill>
          <a:ln w="12700">
            <a:solidFill>
              <a:srgbClr val="D9DEE7"/>
            </a:solidFill>
            <a:prstDash val="solid"/>
          </a:ln>
        </p:spPr>
      </p:sp>
      <p:sp>
        <p:nvSpPr>
          <p:cNvPr id="12" name="Shape 10"/>
          <p:cNvSpPr/>
          <p:nvPr/>
        </p:nvSpPr>
        <p:spPr>
          <a:xfrm>
            <a:off x="4343400" y="2926080"/>
            <a:ext cx="3520440" cy="73152"/>
          </a:xfrm>
          <a:prstGeom prst="rect">
            <a:avLst/>
          </a:prstGeom>
          <a:solidFill>
            <a:srgbClr val="F46800"/>
          </a:solidFill>
          <a:ln w="12700">
            <a:solidFill>
              <a:srgbClr val="F46800"/>
            </a:solidFill>
            <a:prstDash val="solid"/>
          </a:ln>
        </p:spPr>
      </p:sp>
      <p:sp>
        <p:nvSpPr>
          <p:cNvPr id="13" name="Text 11"/>
          <p:cNvSpPr/>
          <p:nvPr/>
        </p:nvSpPr>
        <p:spPr>
          <a:xfrm>
            <a:off x="4526280" y="3108960"/>
            <a:ext cx="3154680" cy="457200"/>
          </a:xfrm>
          <a:prstGeom prst="rect">
            <a:avLst/>
          </a:prstGeom>
          <a:noFill/>
          <a:ln/>
        </p:spPr>
        <p:txBody>
          <a:bodyPr wrap="square" rtlCol="0" anchor="ctr"/>
          <a:lstStyle/>
          <a:p>
            <a:pPr indent="0" marL="0">
              <a:buNone/>
            </a:pPr>
            <a:r>
              <a:rPr lang="en-US" sz="2000" b="1" dirty="0">
                <a:solidFill>
                  <a:srgbClr val="F46800"/>
                </a:solidFill>
                <a:latin typeface="Calibri" pitchFamily="34" charset="0"/>
                <a:ea typeface="Calibri" pitchFamily="34" charset="-122"/>
                <a:cs typeface="Calibri" pitchFamily="34" charset="-120"/>
              </a:rPr>
              <a:t>En software</a:t>
            </a:r>
            <a:endParaRPr lang="en-US" sz="2000" dirty="0"/>
          </a:p>
        </p:txBody>
      </p:sp>
      <p:sp>
        <p:nvSpPr>
          <p:cNvPr id="14" name="Text 12"/>
          <p:cNvSpPr/>
          <p:nvPr/>
        </p:nvSpPr>
        <p:spPr>
          <a:xfrm>
            <a:off x="4526280" y="3611880"/>
            <a:ext cx="3154680" cy="228600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Las salidas son métricas, logs y trazas. El "estado" es: qué request, qué usuario, qué dependencia, qué versión.</a:t>
            </a:r>
            <a:endParaRPr lang="en-US" sz="1800" dirty="0"/>
          </a:p>
        </p:txBody>
      </p:sp>
      <p:sp>
        <p:nvSpPr>
          <p:cNvPr id="15" name="Shape 13"/>
          <p:cNvSpPr/>
          <p:nvPr/>
        </p:nvSpPr>
        <p:spPr>
          <a:xfrm>
            <a:off x="8138160" y="2926080"/>
            <a:ext cx="3520440" cy="3108960"/>
          </a:xfrm>
          <a:prstGeom prst="rect">
            <a:avLst/>
          </a:prstGeom>
          <a:solidFill>
            <a:srgbClr val="FFFFFF"/>
          </a:solidFill>
          <a:ln w="12700">
            <a:solidFill>
              <a:srgbClr val="D9DEE7"/>
            </a:solidFill>
            <a:prstDash val="solid"/>
          </a:ln>
        </p:spPr>
      </p:sp>
      <p:sp>
        <p:nvSpPr>
          <p:cNvPr id="16" name="Shape 14"/>
          <p:cNvSpPr/>
          <p:nvPr/>
        </p:nvSpPr>
        <p:spPr>
          <a:xfrm>
            <a:off x="8138160" y="2926080"/>
            <a:ext cx="3520440" cy="73152"/>
          </a:xfrm>
          <a:prstGeom prst="rect">
            <a:avLst/>
          </a:prstGeom>
          <a:solidFill>
            <a:srgbClr val="15803D"/>
          </a:solidFill>
          <a:ln w="12700">
            <a:solidFill>
              <a:srgbClr val="15803D"/>
            </a:solidFill>
            <a:prstDash val="solid"/>
          </a:ln>
        </p:spPr>
      </p:sp>
      <p:sp>
        <p:nvSpPr>
          <p:cNvPr id="17" name="Text 15"/>
          <p:cNvSpPr/>
          <p:nvPr/>
        </p:nvSpPr>
        <p:spPr>
          <a:xfrm>
            <a:off x="8321040" y="3108960"/>
            <a:ext cx="3154680" cy="457200"/>
          </a:xfrm>
          <a:prstGeom prst="rect">
            <a:avLst/>
          </a:prstGeom>
          <a:noFill/>
          <a:ln/>
        </p:spPr>
        <p:txBody>
          <a:bodyPr wrap="square" rtlCol="0" anchor="ctr"/>
          <a:lstStyle/>
          <a:p>
            <a:pPr indent="0" marL="0">
              <a:buNone/>
            </a:pPr>
            <a:r>
              <a:rPr lang="en-US" sz="2000" b="1" dirty="0">
                <a:solidFill>
                  <a:srgbClr val="15803D"/>
                </a:solidFill>
                <a:latin typeface="Calibri" pitchFamily="34" charset="0"/>
                <a:ea typeface="Calibri" pitchFamily="34" charset="-122"/>
                <a:cs typeface="Calibri" pitchFamily="34" charset="-120"/>
              </a:rPr>
              <a:t>La prueba</a:t>
            </a:r>
            <a:endParaRPr lang="en-US" sz="2000" dirty="0"/>
          </a:p>
        </p:txBody>
      </p:sp>
      <p:sp>
        <p:nvSpPr>
          <p:cNvPr id="18" name="Text 16"/>
          <p:cNvSpPr/>
          <p:nvPr/>
        </p:nvSpPr>
        <p:spPr>
          <a:xfrm>
            <a:off x="8321040" y="3611880"/>
            <a:ext cx="3154680" cy="228600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Si un problema nuevo te obliga a agregar un log y redesplegar para entenderlo, al sistema le falta observabilidad.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NO SON LO MISMO</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Monitoreo vs. observabilidad</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377440"/>
                <a:gridCol w="4343400"/>
                <a:gridCol w="4343400"/>
              </a:tblGrid>
              <a:tr h="566928">
                <a:tc>
                  <a:txBody>
                    <a:bodyPr/>
                    <a:lstStyle/>
                    <a:p>
                      <a:pPr indent="0" marL="0">
                        <a:buNone/>
                      </a:pPr>
                      <a:endParaRPr lang="en-US" sz="17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Monitoreo</a:t>
                      </a:r>
                      <a:endParaRPr lang="en-US" sz="17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Observabilidad</a:t>
                      </a:r>
                      <a:endParaRPr lang="en-US" sz="17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r>
              <a:tr h="566928">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Pregunta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EEF1F6"/>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¿Está funcionando?</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¿Por qué se comporta así?</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Tipo de problema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EEF1F6"/>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Conocidos ("known unknowns")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Nuevos ("unknown unknowns")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Artefacto</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EEF1F6"/>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Checks, umbrales, alertas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Telemetría rica y consultable</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Ejemplo</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EEF1F6"/>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CPU &gt; 80% → alerta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p99 de /pagos sube solo con la pasarela X</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Relación</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EEF1F6"/>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Es un subconjunto…</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…de una práctica más amplia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5486400"/>
            <a:ext cx="11064240" cy="548640"/>
          </a:xfrm>
          <a:prstGeom prst="rect">
            <a:avLst/>
          </a:prstGeom>
          <a:noFill/>
          <a:ln/>
        </p:spPr>
        <p:txBody>
          <a:bodyPr wrap="square" rtlCol="0" anchor="ctr"/>
          <a:lstStyle/>
          <a:p>
            <a:pPr indent="0" marL="0">
              <a:buNone/>
            </a:pPr>
            <a:r>
              <a:rPr lang="en-US" sz="2000" b="1" dirty="0">
                <a:solidFill>
                  <a:srgbClr val="F46800"/>
                </a:solidFill>
                <a:latin typeface="Calibri" pitchFamily="34" charset="0"/>
                <a:ea typeface="Calibri" pitchFamily="34" charset="-122"/>
                <a:cs typeface="Calibri" pitchFamily="34" charset="-120"/>
              </a:rPr>
              <a:t>Monitoreo te dice QUE algo falla. Observabilidad te deja averiguar POR QUÉ.</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CONTEXTO</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¿Cuándo invertir en observabilidad?</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645920"/>
            <a:ext cx="5394960" cy="4206240"/>
          </a:xfrm>
          <a:prstGeom prst="rect">
            <a:avLst/>
          </a:prstGeom>
          <a:solidFill>
            <a:srgbClr val="FFFFFF"/>
          </a:solidFill>
          <a:ln w="12700">
            <a:solidFill>
              <a:srgbClr val="D9DEE7"/>
            </a:solidFill>
            <a:prstDash val="solid"/>
          </a:ln>
        </p:spPr>
      </p:sp>
      <p:sp>
        <p:nvSpPr>
          <p:cNvPr id="7" name="Shape 5"/>
          <p:cNvSpPr/>
          <p:nvPr/>
        </p:nvSpPr>
        <p:spPr>
          <a:xfrm>
            <a:off x="548640" y="1645920"/>
            <a:ext cx="5394960" cy="73152"/>
          </a:xfrm>
          <a:prstGeom prst="rect">
            <a:avLst/>
          </a:prstGeom>
          <a:solidFill>
            <a:srgbClr val="15803D"/>
          </a:solidFill>
          <a:ln w="12700">
            <a:solidFill>
              <a:srgbClr val="15803D"/>
            </a:solidFill>
            <a:prstDash val="solid"/>
          </a:ln>
        </p:spPr>
      </p:sp>
      <p:sp>
        <p:nvSpPr>
          <p:cNvPr id="8" name="Text 6"/>
          <p:cNvSpPr/>
          <p:nvPr/>
        </p:nvSpPr>
        <p:spPr>
          <a:xfrm>
            <a:off x="731520" y="1828800"/>
            <a:ext cx="5029200" cy="457200"/>
          </a:xfrm>
          <a:prstGeom prst="rect">
            <a:avLst/>
          </a:prstGeom>
          <a:noFill/>
          <a:ln/>
        </p:spPr>
        <p:txBody>
          <a:bodyPr wrap="square" rtlCol="0" anchor="ctr"/>
          <a:lstStyle/>
          <a:p>
            <a:pPr indent="0" marL="0">
              <a:buNone/>
            </a:pPr>
            <a:r>
              <a:rPr lang="en-US" sz="2000" b="1" dirty="0">
                <a:solidFill>
                  <a:srgbClr val="15803D"/>
                </a:solidFill>
                <a:latin typeface="Calibri" pitchFamily="34" charset="0"/>
                <a:ea typeface="Calibri" pitchFamily="34" charset="-122"/>
                <a:cs typeface="Calibri" pitchFamily="34" charset="-120"/>
              </a:rPr>
              <a:t>Sí, desde el día uno</a:t>
            </a:r>
            <a:endParaRPr lang="en-US" sz="2000" dirty="0"/>
          </a:p>
        </p:txBody>
      </p:sp>
      <p:sp>
        <p:nvSpPr>
          <p:cNvPr id="9" name="Text 7"/>
          <p:cNvSpPr/>
          <p:nvPr/>
        </p:nvSpPr>
        <p:spPr>
          <a:xfrm>
            <a:off x="731520" y="2331720"/>
            <a:ext cx="5029200" cy="338328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 Microservicios o sistemas distribuidos</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Dependencias externas (pagos, APIs de terceros)</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Tienes SLOs o contratos de disponibilidad</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Varios equipos operan el mismo sistema</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Despliegues frecuentes (CI/CD)</a:t>
            </a:r>
            <a:endParaRPr lang="en-US" sz="1800" dirty="0"/>
          </a:p>
        </p:txBody>
      </p:sp>
      <p:sp>
        <p:nvSpPr>
          <p:cNvPr id="10" name="Shape 8"/>
          <p:cNvSpPr/>
          <p:nvPr/>
        </p:nvSpPr>
        <p:spPr>
          <a:xfrm>
            <a:off x="6217920" y="1645920"/>
            <a:ext cx="5394960" cy="4206240"/>
          </a:xfrm>
          <a:prstGeom prst="rect">
            <a:avLst/>
          </a:prstGeom>
          <a:solidFill>
            <a:srgbClr val="FFFFFF"/>
          </a:solidFill>
          <a:ln w="12700">
            <a:solidFill>
              <a:srgbClr val="D9DEE7"/>
            </a:solidFill>
            <a:prstDash val="solid"/>
          </a:ln>
        </p:spPr>
      </p:sp>
      <p:sp>
        <p:nvSpPr>
          <p:cNvPr id="11" name="Shape 9"/>
          <p:cNvSpPr/>
          <p:nvPr/>
        </p:nvSpPr>
        <p:spPr>
          <a:xfrm>
            <a:off x="6217920" y="1645920"/>
            <a:ext cx="5394960" cy="73152"/>
          </a:xfrm>
          <a:prstGeom prst="rect">
            <a:avLst/>
          </a:prstGeom>
          <a:solidFill>
            <a:srgbClr val="CA8A04"/>
          </a:solidFill>
          <a:ln w="12700">
            <a:solidFill>
              <a:srgbClr val="CA8A04"/>
            </a:solidFill>
            <a:prstDash val="solid"/>
          </a:ln>
        </p:spPr>
      </p:sp>
      <p:sp>
        <p:nvSpPr>
          <p:cNvPr id="12" name="Text 10"/>
          <p:cNvSpPr/>
          <p:nvPr/>
        </p:nvSpPr>
        <p:spPr>
          <a:xfrm>
            <a:off x="6400800" y="1828800"/>
            <a:ext cx="5029200" cy="457200"/>
          </a:xfrm>
          <a:prstGeom prst="rect">
            <a:avLst/>
          </a:prstGeom>
          <a:noFill/>
          <a:ln/>
        </p:spPr>
        <p:txBody>
          <a:bodyPr wrap="square" rtlCol="0" anchor="ctr"/>
          <a:lstStyle/>
          <a:p>
            <a:pPr indent="0" marL="0">
              <a:buNone/>
            </a:pPr>
            <a:r>
              <a:rPr lang="en-US" sz="2000" b="1" dirty="0">
                <a:solidFill>
                  <a:srgbClr val="CA8A04"/>
                </a:solidFill>
                <a:latin typeface="Calibri" pitchFamily="34" charset="0"/>
                <a:ea typeface="Calibri" pitchFamily="34" charset="-122"/>
                <a:cs typeface="Calibri" pitchFamily="34" charset="-120"/>
              </a:rPr>
              <a:t>Con mesura</a:t>
            </a:r>
            <a:endParaRPr lang="en-US" sz="2000" dirty="0"/>
          </a:p>
        </p:txBody>
      </p:sp>
      <p:sp>
        <p:nvSpPr>
          <p:cNvPr id="13" name="Text 11"/>
          <p:cNvSpPr/>
          <p:nvPr/>
        </p:nvSpPr>
        <p:spPr>
          <a:xfrm>
            <a:off x="6400800" y="2331720"/>
            <a:ext cx="5029200" cy="338328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 Monolito pequeño o prototipo: Actuator + logs estructurados alcanzan</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Scripts batch: métricas de éxito/duración del job</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Cuidado con el costo: la telemetría también se paga (almacenamiento, cardinalidad)</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 Empieza por RED en los endpoints críticos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SEÑALES</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Los tres pilares de la telemetría</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645920"/>
            <a:ext cx="3566160" cy="3657600"/>
          </a:xfrm>
          <a:prstGeom prst="rect">
            <a:avLst/>
          </a:prstGeom>
          <a:solidFill>
            <a:srgbClr val="FFFFFF"/>
          </a:solidFill>
          <a:ln w="12700">
            <a:solidFill>
              <a:srgbClr val="D9DEE7"/>
            </a:solidFill>
            <a:prstDash val="solid"/>
          </a:ln>
        </p:spPr>
      </p:sp>
      <p:sp>
        <p:nvSpPr>
          <p:cNvPr id="7" name="Shape 5"/>
          <p:cNvSpPr/>
          <p:nvPr/>
        </p:nvSpPr>
        <p:spPr>
          <a:xfrm>
            <a:off x="548640" y="1645920"/>
            <a:ext cx="3566160" cy="73152"/>
          </a:xfrm>
          <a:prstGeom prst="rect">
            <a:avLst/>
          </a:prstGeom>
          <a:solidFill>
            <a:srgbClr val="F46800"/>
          </a:solidFill>
          <a:ln w="12700">
            <a:solidFill>
              <a:srgbClr val="F46800"/>
            </a:solidFill>
            <a:prstDash val="solid"/>
          </a:ln>
        </p:spPr>
      </p:sp>
      <p:sp>
        <p:nvSpPr>
          <p:cNvPr id="8" name="Text 6"/>
          <p:cNvSpPr/>
          <p:nvPr/>
        </p:nvSpPr>
        <p:spPr>
          <a:xfrm>
            <a:off x="731520" y="1828800"/>
            <a:ext cx="3200400" cy="457200"/>
          </a:xfrm>
          <a:prstGeom prst="rect">
            <a:avLst/>
          </a:prstGeom>
          <a:noFill/>
          <a:ln/>
        </p:spPr>
        <p:txBody>
          <a:bodyPr wrap="square" rtlCol="0" anchor="ctr"/>
          <a:lstStyle/>
          <a:p>
            <a:pPr indent="0" marL="0">
              <a:buNone/>
            </a:pPr>
            <a:r>
              <a:rPr lang="en-US" sz="2000" b="1" dirty="0">
                <a:solidFill>
                  <a:srgbClr val="F46800"/>
                </a:solidFill>
                <a:latin typeface="Calibri" pitchFamily="34" charset="0"/>
                <a:ea typeface="Calibri" pitchFamily="34" charset="-122"/>
                <a:cs typeface="Calibri" pitchFamily="34" charset="-120"/>
              </a:rPr>
              <a:t>Métricas</a:t>
            </a:r>
            <a:endParaRPr lang="en-US" sz="2000" dirty="0"/>
          </a:p>
        </p:txBody>
      </p:sp>
      <p:sp>
        <p:nvSpPr>
          <p:cNvPr id="9" name="Text 7"/>
          <p:cNvSpPr/>
          <p:nvPr/>
        </p:nvSpPr>
        <p:spPr>
          <a:xfrm>
            <a:off x="731520" y="2331720"/>
            <a:ext cx="3200400" cy="2834640"/>
          </a:xfrm>
          <a:prstGeom prst="rect">
            <a:avLst/>
          </a:prstGeom>
          <a:noFill/>
          <a:ln/>
        </p:spPr>
        <p:txBody>
          <a:bodyPr wrap="square" rtlCol="0" anchor="t"/>
          <a:lstStyle/>
          <a:p>
            <a:pPr indent="0" marL="0">
              <a:buNone/>
            </a:pPr>
            <a:r>
              <a:rPr lang="en-US" sz="1600" dirty="0">
                <a:solidFill>
                  <a:srgbClr val="111827"/>
                </a:solidFill>
                <a:latin typeface="Calibri" pitchFamily="34" charset="0"/>
                <a:ea typeface="Calibri" pitchFamily="34" charset="-122"/>
                <a:cs typeface="Calibri" pitchFamily="34" charset="-120"/>
              </a:rPr>
              <a:t>Números agregados en el tiempo.</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¿Cuánto? ¿Qué tan rápido? ¿Qué porcentaje?</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Baratas, ideales para alertar.</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En la demo: Micrometer → Prometheus</a:t>
            </a:r>
            <a:endParaRPr lang="en-US" sz="1600" dirty="0"/>
          </a:p>
        </p:txBody>
      </p:sp>
      <p:sp>
        <p:nvSpPr>
          <p:cNvPr id="10" name="Shape 8"/>
          <p:cNvSpPr/>
          <p:nvPr/>
        </p:nvSpPr>
        <p:spPr>
          <a:xfrm>
            <a:off x="4315968" y="1645920"/>
            <a:ext cx="3566160" cy="3657600"/>
          </a:xfrm>
          <a:prstGeom prst="rect">
            <a:avLst/>
          </a:prstGeom>
          <a:solidFill>
            <a:srgbClr val="FFFFFF"/>
          </a:solidFill>
          <a:ln w="12700">
            <a:solidFill>
              <a:srgbClr val="D9DEE7"/>
            </a:solidFill>
            <a:prstDash val="solid"/>
          </a:ln>
        </p:spPr>
      </p:sp>
      <p:sp>
        <p:nvSpPr>
          <p:cNvPr id="11" name="Shape 9"/>
          <p:cNvSpPr/>
          <p:nvPr/>
        </p:nvSpPr>
        <p:spPr>
          <a:xfrm>
            <a:off x="4315968" y="1645920"/>
            <a:ext cx="3566160" cy="73152"/>
          </a:xfrm>
          <a:prstGeom prst="rect">
            <a:avLst/>
          </a:prstGeom>
          <a:solidFill>
            <a:srgbClr val="2563EB"/>
          </a:solidFill>
          <a:ln w="12700">
            <a:solidFill>
              <a:srgbClr val="2563EB"/>
            </a:solidFill>
            <a:prstDash val="solid"/>
          </a:ln>
        </p:spPr>
      </p:sp>
      <p:sp>
        <p:nvSpPr>
          <p:cNvPr id="12" name="Text 10"/>
          <p:cNvSpPr/>
          <p:nvPr/>
        </p:nvSpPr>
        <p:spPr>
          <a:xfrm>
            <a:off x="4498848" y="1828800"/>
            <a:ext cx="3200400" cy="457200"/>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Logs</a:t>
            </a:r>
            <a:endParaRPr lang="en-US" sz="2000" dirty="0"/>
          </a:p>
        </p:txBody>
      </p:sp>
      <p:sp>
        <p:nvSpPr>
          <p:cNvPr id="13" name="Text 11"/>
          <p:cNvSpPr/>
          <p:nvPr/>
        </p:nvSpPr>
        <p:spPr>
          <a:xfrm>
            <a:off x="4498848" y="2331720"/>
            <a:ext cx="3200400" cy="2834640"/>
          </a:xfrm>
          <a:prstGeom prst="rect">
            <a:avLst/>
          </a:prstGeom>
          <a:noFill/>
          <a:ln/>
        </p:spPr>
        <p:txBody>
          <a:bodyPr wrap="square" rtlCol="0" anchor="t"/>
          <a:lstStyle/>
          <a:p>
            <a:pPr indent="0" marL="0">
              <a:buNone/>
            </a:pPr>
            <a:r>
              <a:rPr lang="en-US" sz="1600" dirty="0">
                <a:solidFill>
                  <a:srgbClr val="111827"/>
                </a:solidFill>
                <a:latin typeface="Calibri" pitchFamily="34" charset="0"/>
                <a:ea typeface="Calibri" pitchFamily="34" charset="-122"/>
                <a:cs typeface="Calibri" pitchFamily="34" charset="-120"/>
              </a:rPr>
              <a:t>Eventos discretos con contexto.</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¿Qué pasó exactamente en este request?</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Ricos pero caros de buscar si no son estructurados.</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En la demo: Logback JSON → Loki</a:t>
            </a:r>
            <a:endParaRPr lang="en-US" sz="1600" dirty="0"/>
          </a:p>
        </p:txBody>
      </p:sp>
      <p:sp>
        <p:nvSpPr>
          <p:cNvPr id="14" name="Shape 12"/>
          <p:cNvSpPr/>
          <p:nvPr/>
        </p:nvSpPr>
        <p:spPr>
          <a:xfrm>
            <a:off x="8083296" y="1645920"/>
            <a:ext cx="3566160" cy="3657600"/>
          </a:xfrm>
          <a:prstGeom prst="rect">
            <a:avLst/>
          </a:prstGeom>
          <a:solidFill>
            <a:srgbClr val="FFFFFF"/>
          </a:solidFill>
          <a:ln w="12700">
            <a:solidFill>
              <a:srgbClr val="D9DEE7"/>
            </a:solidFill>
            <a:prstDash val="solid"/>
          </a:ln>
        </p:spPr>
      </p:sp>
      <p:sp>
        <p:nvSpPr>
          <p:cNvPr id="15" name="Shape 13"/>
          <p:cNvSpPr/>
          <p:nvPr/>
        </p:nvSpPr>
        <p:spPr>
          <a:xfrm>
            <a:off x="8083296" y="1645920"/>
            <a:ext cx="3566160" cy="73152"/>
          </a:xfrm>
          <a:prstGeom prst="rect">
            <a:avLst/>
          </a:prstGeom>
          <a:solidFill>
            <a:srgbClr val="15803D"/>
          </a:solidFill>
          <a:ln w="12700">
            <a:solidFill>
              <a:srgbClr val="15803D"/>
            </a:solidFill>
            <a:prstDash val="solid"/>
          </a:ln>
        </p:spPr>
      </p:sp>
      <p:sp>
        <p:nvSpPr>
          <p:cNvPr id="16" name="Text 14"/>
          <p:cNvSpPr/>
          <p:nvPr/>
        </p:nvSpPr>
        <p:spPr>
          <a:xfrm>
            <a:off x="8266176" y="1828800"/>
            <a:ext cx="3200400" cy="457200"/>
          </a:xfrm>
          <a:prstGeom prst="rect">
            <a:avLst/>
          </a:prstGeom>
          <a:noFill/>
          <a:ln/>
        </p:spPr>
        <p:txBody>
          <a:bodyPr wrap="square" rtlCol="0" anchor="ctr"/>
          <a:lstStyle/>
          <a:p>
            <a:pPr indent="0" marL="0">
              <a:buNone/>
            </a:pPr>
            <a:r>
              <a:rPr lang="en-US" sz="2000" b="1" dirty="0">
                <a:solidFill>
                  <a:srgbClr val="15803D"/>
                </a:solidFill>
                <a:latin typeface="Calibri" pitchFamily="34" charset="0"/>
                <a:ea typeface="Calibri" pitchFamily="34" charset="-122"/>
                <a:cs typeface="Calibri" pitchFamily="34" charset="-120"/>
              </a:rPr>
              <a:t>Trazas</a:t>
            </a:r>
            <a:endParaRPr lang="en-US" sz="2000" dirty="0"/>
          </a:p>
        </p:txBody>
      </p:sp>
      <p:sp>
        <p:nvSpPr>
          <p:cNvPr id="17" name="Text 15"/>
          <p:cNvSpPr/>
          <p:nvPr/>
        </p:nvSpPr>
        <p:spPr>
          <a:xfrm>
            <a:off x="8266176" y="2331720"/>
            <a:ext cx="3200400" cy="2834640"/>
          </a:xfrm>
          <a:prstGeom prst="rect">
            <a:avLst/>
          </a:prstGeom>
          <a:noFill/>
          <a:ln/>
        </p:spPr>
        <p:txBody>
          <a:bodyPr wrap="square" rtlCol="0" anchor="t"/>
          <a:lstStyle/>
          <a:p>
            <a:pPr indent="0" marL="0">
              <a:buNone/>
            </a:pPr>
            <a:r>
              <a:rPr lang="en-US" sz="1600" dirty="0">
                <a:solidFill>
                  <a:srgbClr val="111827"/>
                </a:solidFill>
                <a:latin typeface="Calibri" pitchFamily="34" charset="0"/>
                <a:ea typeface="Calibri" pitchFamily="34" charset="-122"/>
                <a:cs typeface="Calibri" pitchFamily="34" charset="-120"/>
              </a:rPr>
              <a:t>El recorrido de un request entre servicios.</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¿Dónde se fue el tiempo?</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Clave en microservicios.</a:t>
            </a:r>
            <a:endParaRPr lang="en-US" sz="1600" dirty="0"/>
          </a:p>
          <a:p>
            <a:pPr indent="0" marL="0">
              <a:buNone/>
            </a:pPr>
            <a:endParaRPr lang="en-US" sz="1600" dirty="0"/>
          </a:p>
          <a:p>
            <a:pPr indent="0" marL="0">
              <a:buNone/>
            </a:pPr>
            <a:r>
              <a:rPr lang="en-US" sz="1600" dirty="0">
                <a:solidFill>
                  <a:srgbClr val="111827"/>
                </a:solidFill>
                <a:latin typeface="Calibri" pitchFamily="34" charset="0"/>
                <a:ea typeface="Calibri" pitchFamily="34" charset="-122"/>
                <a:cs typeface="Calibri" pitchFamily="34" charset="-120"/>
              </a:rPr>
              <a:t>Siguiente paso: Micrometer Tracing + Tempo</a:t>
            </a:r>
            <a:endParaRPr lang="en-US" sz="1600" dirty="0"/>
          </a:p>
        </p:txBody>
      </p:sp>
      <p:sp>
        <p:nvSpPr>
          <p:cNvPr id="18" name="Text 16"/>
          <p:cNvSpPr/>
          <p:nvPr/>
        </p:nvSpPr>
        <p:spPr>
          <a:xfrm>
            <a:off x="548640" y="5577840"/>
            <a:ext cx="11064240" cy="548640"/>
          </a:xfrm>
          <a:prstGeom prst="rect">
            <a:avLst/>
          </a:prstGeom>
          <a:noFill/>
          <a:ln/>
        </p:spPr>
        <p:txBody>
          <a:bodyPr wrap="square" rtlCol="0" anchor="ctr"/>
          <a:lstStyle/>
          <a:p>
            <a:pPr indent="0" marL="0">
              <a:buNone/>
            </a:pPr>
            <a:r>
              <a:rPr lang="en-US" sz="1900" b="1" dirty="0">
                <a:solidFill>
                  <a:srgbClr val="111827"/>
                </a:solidFill>
                <a:latin typeface="Calibri" pitchFamily="34" charset="0"/>
                <a:ea typeface="Calibri" pitchFamily="34" charset="-122"/>
                <a:cs typeface="Calibri" pitchFamily="34" charset="-120"/>
              </a:rPr>
              <a:t>El valor está en correlacionarlos: una métrica te lleva al log, el log a la traza.</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CÓMO FLUYE LA TELEMETRÍA</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Arquitectura: Spring → Prometheus / Loki → Grafana</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457200" y="2514600"/>
            <a:ext cx="2011680" cy="1371600"/>
          </a:xfrm>
          <a:prstGeom prst="roundRect">
            <a:avLst>
              <a:gd name="adj" fmla="val 8000"/>
            </a:avLst>
          </a:prstGeom>
          <a:solidFill>
            <a:srgbClr val="FFFFFF"/>
          </a:solidFill>
          <a:ln w="25400">
            <a:solidFill>
              <a:srgbClr val="5B6475"/>
            </a:solidFill>
            <a:prstDash val="solid"/>
          </a:ln>
        </p:spPr>
      </p:sp>
      <p:sp>
        <p:nvSpPr>
          <p:cNvPr id="7" name="Text 5"/>
          <p:cNvSpPr/>
          <p:nvPr/>
        </p:nvSpPr>
        <p:spPr>
          <a:xfrm>
            <a:off x="457200" y="2624328"/>
            <a:ext cx="2011680" cy="411480"/>
          </a:xfrm>
          <a:prstGeom prst="rect">
            <a:avLst/>
          </a:prstGeom>
          <a:noFill/>
          <a:ln/>
        </p:spPr>
        <p:txBody>
          <a:bodyPr wrap="square" rtlCol="0" anchor="ctr"/>
          <a:lstStyle/>
          <a:p>
            <a:pPr algn="ctr" indent="0" marL="0">
              <a:buNone/>
            </a:pPr>
            <a:r>
              <a:rPr lang="en-US" sz="1800" b="1" dirty="0">
                <a:solidFill>
                  <a:srgbClr val="5B6475"/>
                </a:solidFill>
                <a:latin typeface="Calibri" pitchFamily="34" charset="0"/>
                <a:ea typeface="Calibri" pitchFamily="34" charset="-122"/>
                <a:cs typeface="Calibri" pitchFamily="34" charset="-120"/>
              </a:rPr>
              <a:t>k6</a:t>
            </a:r>
            <a:endParaRPr lang="en-US" sz="1800" dirty="0"/>
          </a:p>
        </p:txBody>
      </p:sp>
      <p:sp>
        <p:nvSpPr>
          <p:cNvPr id="8" name="Text 6"/>
          <p:cNvSpPr/>
          <p:nvPr/>
        </p:nvSpPr>
        <p:spPr>
          <a:xfrm>
            <a:off x="548640" y="3017520"/>
            <a:ext cx="1828800" cy="777240"/>
          </a:xfrm>
          <a:prstGeom prst="rect">
            <a:avLst/>
          </a:prstGeom>
          <a:noFill/>
          <a:ln/>
        </p:spPr>
        <p:txBody>
          <a:bodyPr wrap="square" rtlCol="0" anchor="t"/>
          <a:lstStyle/>
          <a:p>
            <a:pPr algn="ctr" indent="0" marL="0">
              <a:buNone/>
            </a:pPr>
            <a:r>
              <a:rPr lang="en-US" sz="1300" dirty="0">
                <a:solidFill>
                  <a:srgbClr val="111827"/>
                </a:solidFill>
                <a:latin typeface="Calibri" pitchFamily="34" charset="0"/>
                <a:ea typeface="Calibri" pitchFamily="34" charset="-122"/>
                <a:cs typeface="Calibri" pitchFamily="34" charset="-120"/>
              </a:rPr>
              <a:t>Generador de carga</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~40 req/s</a:t>
            </a:r>
            <a:endParaRPr lang="en-US" sz="1300" dirty="0"/>
          </a:p>
        </p:txBody>
      </p:sp>
      <p:sp>
        <p:nvSpPr>
          <p:cNvPr id="9" name="Shape 7"/>
          <p:cNvSpPr/>
          <p:nvPr/>
        </p:nvSpPr>
        <p:spPr>
          <a:xfrm>
            <a:off x="3291840" y="1828800"/>
            <a:ext cx="2743200" cy="2743200"/>
          </a:xfrm>
          <a:prstGeom prst="roundRect">
            <a:avLst>
              <a:gd name="adj" fmla="val 4000"/>
            </a:avLst>
          </a:prstGeom>
          <a:solidFill>
            <a:srgbClr val="FFFFFF"/>
          </a:solidFill>
          <a:ln w="25400">
            <a:solidFill>
              <a:srgbClr val="15803D"/>
            </a:solidFill>
            <a:prstDash val="solid"/>
          </a:ln>
        </p:spPr>
      </p:sp>
      <p:sp>
        <p:nvSpPr>
          <p:cNvPr id="10" name="Text 8"/>
          <p:cNvSpPr/>
          <p:nvPr/>
        </p:nvSpPr>
        <p:spPr>
          <a:xfrm>
            <a:off x="3291840" y="1938528"/>
            <a:ext cx="2743200" cy="411480"/>
          </a:xfrm>
          <a:prstGeom prst="rect">
            <a:avLst/>
          </a:prstGeom>
          <a:noFill/>
          <a:ln/>
        </p:spPr>
        <p:txBody>
          <a:bodyPr wrap="square" rtlCol="0" anchor="ctr"/>
          <a:lstStyle/>
          <a:p>
            <a:pPr algn="ctr" indent="0" marL="0">
              <a:buNone/>
            </a:pPr>
            <a:r>
              <a:rPr lang="en-US" sz="1800" b="1" dirty="0">
                <a:solidFill>
                  <a:srgbClr val="15803D"/>
                </a:solidFill>
                <a:latin typeface="Calibri" pitchFamily="34" charset="0"/>
                <a:ea typeface="Calibri" pitchFamily="34" charset="-122"/>
                <a:cs typeface="Calibri" pitchFamily="34" charset="-120"/>
              </a:rPr>
              <a:t>API Spring Boot</a:t>
            </a:r>
            <a:endParaRPr lang="en-US" sz="1800" dirty="0"/>
          </a:p>
        </p:txBody>
      </p:sp>
      <p:sp>
        <p:nvSpPr>
          <p:cNvPr id="11" name="Text 9"/>
          <p:cNvSpPr/>
          <p:nvPr/>
        </p:nvSpPr>
        <p:spPr>
          <a:xfrm>
            <a:off x="3383280" y="2331720"/>
            <a:ext cx="2560320" cy="2148840"/>
          </a:xfrm>
          <a:prstGeom prst="rect">
            <a:avLst/>
          </a:prstGeom>
          <a:noFill/>
          <a:ln/>
        </p:spPr>
        <p:txBody>
          <a:bodyPr wrap="square" rtlCol="0" anchor="t"/>
          <a:lstStyle/>
          <a:p>
            <a:pPr algn="ctr" indent="0" marL="0">
              <a:buNone/>
            </a:pPr>
            <a:r>
              <a:rPr lang="en-US" sz="1300" dirty="0">
                <a:solidFill>
                  <a:srgbClr val="111827"/>
                </a:solidFill>
                <a:latin typeface="Calibri" pitchFamily="34" charset="0"/>
                <a:ea typeface="Calibri" pitchFamily="34" charset="-122"/>
                <a:cs typeface="Calibri" pitchFamily="34" charset="-120"/>
              </a:rPr>
              <a:t>Actuator + Micrometer</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/actuator/prometheus</a:t>
            </a:r>
            <a:endParaRPr lang="en-US" sz="1300" dirty="0"/>
          </a:p>
          <a:p>
            <a:pPr algn="ctr" indent="0" marL="0">
              <a:buNone/>
            </a:pP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Logback + Loki4j</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(logs JSON)</a:t>
            </a:r>
            <a:endParaRPr lang="en-US" sz="1300" dirty="0"/>
          </a:p>
        </p:txBody>
      </p:sp>
      <p:sp>
        <p:nvSpPr>
          <p:cNvPr id="12" name="Shape 10"/>
          <p:cNvSpPr/>
          <p:nvPr/>
        </p:nvSpPr>
        <p:spPr>
          <a:xfrm>
            <a:off x="7132320" y="1554480"/>
            <a:ext cx="2103120" cy="1554480"/>
          </a:xfrm>
          <a:prstGeom prst="roundRect">
            <a:avLst>
              <a:gd name="adj" fmla="val 7059"/>
            </a:avLst>
          </a:prstGeom>
          <a:solidFill>
            <a:srgbClr val="FFFFFF"/>
          </a:solidFill>
          <a:ln w="25400">
            <a:solidFill>
              <a:srgbClr val="F46800"/>
            </a:solidFill>
            <a:prstDash val="solid"/>
          </a:ln>
        </p:spPr>
      </p:sp>
      <p:sp>
        <p:nvSpPr>
          <p:cNvPr id="13" name="Text 11"/>
          <p:cNvSpPr/>
          <p:nvPr/>
        </p:nvSpPr>
        <p:spPr>
          <a:xfrm>
            <a:off x="7132320" y="1664208"/>
            <a:ext cx="2103120" cy="411480"/>
          </a:xfrm>
          <a:prstGeom prst="rect">
            <a:avLst/>
          </a:prstGeom>
          <a:noFill/>
          <a:ln/>
        </p:spPr>
        <p:txBody>
          <a:bodyPr wrap="square" rtlCol="0" anchor="ctr"/>
          <a:lstStyle/>
          <a:p>
            <a:pPr algn="ctr" indent="0" marL="0">
              <a:buNone/>
            </a:pPr>
            <a:r>
              <a:rPr lang="en-US" sz="1800" b="1" dirty="0">
                <a:solidFill>
                  <a:srgbClr val="F46800"/>
                </a:solidFill>
                <a:latin typeface="Calibri" pitchFamily="34" charset="0"/>
                <a:ea typeface="Calibri" pitchFamily="34" charset="-122"/>
                <a:cs typeface="Calibri" pitchFamily="34" charset="-120"/>
              </a:rPr>
              <a:t>Prometheus</a:t>
            </a:r>
            <a:endParaRPr lang="en-US" sz="1800" dirty="0"/>
          </a:p>
        </p:txBody>
      </p:sp>
      <p:sp>
        <p:nvSpPr>
          <p:cNvPr id="14" name="Text 12"/>
          <p:cNvSpPr/>
          <p:nvPr/>
        </p:nvSpPr>
        <p:spPr>
          <a:xfrm>
            <a:off x="7223760" y="2057400"/>
            <a:ext cx="1920240" cy="960120"/>
          </a:xfrm>
          <a:prstGeom prst="rect">
            <a:avLst/>
          </a:prstGeom>
          <a:noFill/>
          <a:ln/>
        </p:spPr>
        <p:txBody>
          <a:bodyPr wrap="square" rtlCol="0" anchor="t"/>
          <a:lstStyle/>
          <a:p>
            <a:pPr algn="ctr" indent="0" marL="0">
              <a:buNone/>
            </a:pPr>
            <a:r>
              <a:rPr lang="en-US" sz="1300" dirty="0">
                <a:solidFill>
                  <a:srgbClr val="111827"/>
                </a:solidFill>
                <a:latin typeface="Calibri" pitchFamily="34" charset="0"/>
                <a:ea typeface="Calibri" pitchFamily="34" charset="-122"/>
                <a:cs typeface="Calibri" pitchFamily="34" charset="-120"/>
              </a:rPr>
              <a:t>TSDB de métricas</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Reglas de alerta</a:t>
            </a:r>
            <a:endParaRPr lang="en-US" sz="1300" dirty="0"/>
          </a:p>
        </p:txBody>
      </p:sp>
      <p:sp>
        <p:nvSpPr>
          <p:cNvPr id="15" name="Shape 13"/>
          <p:cNvSpPr/>
          <p:nvPr/>
        </p:nvSpPr>
        <p:spPr>
          <a:xfrm>
            <a:off x="7132320" y="3474720"/>
            <a:ext cx="2103120" cy="1554480"/>
          </a:xfrm>
          <a:prstGeom prst="roundRect">
            <a:avLst>
              <a:gd name="adj" fmla="val 7059"/>
            </a:avLst>
          </a:prstGeom>
          <a:solidFill>
            <a:srgbClr val="FFFFFF"/>
          </a:solidFill>
          <a:ln w="25400">
            <a:solidFill>
              <a:srgbClr val="2563EB"/>
            </a:solidFill>
            <a:prstDash val="solid"/>
          </a:ln>
        </p:spPr>
      </p:sp>
      <p:sp>
        <p:nvSpPr>
          <p:cNvPr id="16" name="Text 14"/>
          <p:cNvSpPr/>
          <p:nvPr/>
        </p:nvSpPr>
        <p:spPr>
          <a:xfrm>
            <a:off x="7132320" y="3584448"/>
            <a:ext cx="2103120" cy="411480"/>
          </a:xfrm>
          <a:prstGeom prst="rect">
            <a:avLst/>
          </a:prstGeom>
          <a:noFill/>
          <a:ln/>
        </p:spPr>
        <p:txBody>
          <a:bodyPr wrap="square" rtlCol="0" anchor="ctr"/>
          <a:lstStyle/>
          <a:p>
            <a:pPr algn="ctr" indent="0" marL="0">
              <a:buNone/>
            </a:pPr>
            <a:r>
              <a:rPr lang="en-US" sz="1800" b="1" dirty="0">
                <a:solidFill>
                  <a:srgbClr val="2563EB"/>
                </a:solidFill>
                <a:latin typeface="Calibri" pitchFamily="34" charset="0"/>
                <a:ea typeface="Calibri" pitchFamily="34" charset="-122"/>
                <a:cs typeface="Calibri" pitchFamily="34" charset="-120"/>
              </a:rPr>
              <a:t>Loki</a:t>
            </a:r>
            <a:endParaRPr lang="en-US" sz="1800" dirty="0"/>
          </a:p>
        </p:txBody>
      </p:sp>
      <p:sp>
        <p:nvSpPr>
          <p:cNvPr id="17" name="Text 15"/>
          <p:cNvSpPr/>
          <p:nvPr/>
        </p:nvSpPr>
        <p:spPr>
          <a:xfrm>
            <a:off x="7223760" y="3977640"/>
            <a:ext cx="1920240" cy="960120"/>
          </a:xfrm>
          <a:prstGeom prst="rect">
            <a:avLst/>
          </a:prstGeom>
          <a:noFill/>
          <a:ln/>
        </p:spPr>
        <p:txBody>
          <a:bodyPr wrap="square" rtlCol="0" anchor="t"/>
          <a:lstStyle/>
          <a:p>
            <a:pPr algn="ctr" indent="0" marL="0">
              <a:buNone/>
            </a:pPr>
            <a:r>
              <a:rPr lang="en-US" sz="1300" dirty="0">
                <a:solidFill>
                  <a:srgbClr val="111827"/>
                </a:solidFill>
                <a:latin typeface="Calibri" pitchFamily="34" charset="0"/>
                <a:ea typeface="Calibri" pitchFamily="34" charset="-122"/>
                <a:cs typeface="Calibri" pitchFamily="34" charset="-120"/>
              </a:rPr>
              <a:t>Logs indexados</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solo por etiquetas</a:t>
            </a:r>
            <a:endParaRPr lang="en-US" sz="1300" dirty="0"/>
          </a:p>
        </p:txBody>
      </p:sp>
      <p:sp>
        <p:nvSpPr>
          <p:cNvPr id="18" name="Shape 16"/>
          <p:cNvSpPr/>
          <p:nvPr/>
        </p:nvSpPr>
        <p:spPr>
          <a:xfrm>
            <a:off x="9966960" y="2606040"/>
            <a:ext cx="1828800" cy="1371600"/>
          </a:xfrm>
          <a:prstGeom prst="roundRect">
            <a:avLst>
              <a:gd name="adj" fmla="val 8000"/>
            </a:avLst>
          </a:prstGeom>
          <a:solidFill>
            <a:srgbClr val="FFFFFF"/>
          </a:solidFill>
          <a:ln w="25400">
            <a:solidFill>
              <a:srgbClr val="B45309"/>
            </a:solidFill>
            <a:prstDash val="solid"/>
          </a:ln>
        </p:spPr>
      </p:sp>
      <p:sp>
        <p:nvSpPr>
          <p:cNvPr id="19" name="Text 17"/>
          <p:cNvSpPr/>
          <p:nvPr/>
        </p:nvSpPr>
        <p:spPr>
          <a:xfrm>
            <a:off x="9966960" y="2715768"/>
            <a:ext cx="1828800" cy="411480"/>
          </a:xfrm>
          <a:prstGeom prst="rect">
            <a:avLst/>
          </a:prstGeom>
          <a:noFill/>
          <a:ln/>
        </p:spPr>
        <p:txBody>
          <a:bodyPr wrap="square" rtlCol="0" anchor="ctr"/>
          <a:lstStyle/>
          <a:p>
            <a:pPr algn="ctr" indent="0" marL="0">
              <a:buNone/>
            </a:pPr>
            <a:r>
              <a:rPr lang="en-US" sz="1800" b="1" dirty="0">
                <a:solidFill>
                  <a:srgbClr val="B45309"/>
                </a:solidFill>
                <a:latin typeface="Calibri" pitchFamily="34" charset="0"/>
                <a:ea typeface="Calibri" pitchFamily="34" charset="-122"/>
                <a:cs typeface="Calibri" pitchFamily="34" charset="-120"/>
              </a:rPr>
              <a:t>Grafana</a:t>
            </a:r>
            <a:endParaRPr lang="en-US" sz="1800" dirty="0"/>
          </a:p>
        </p:txBody>
      </p:sp>
      <p:sp>
        <p:nvSpPr>
          <p:cNvPr id="20" name="Text 18"/>
          <p:cNvSpPr/>
          <p:nvPr/>
        </p:nvSpPr>
        <p:spPr>
          <a:xfrm>
            <a:off x="10058400" y="3108960"/>
            <a:ext cx="1645920" cy="777240"/>
          </a:xfrm>
          <a:prstGeom prst="rect">
            <a:avLst/>
          </a:prstGeom>
          <a:noFill/>
          <a:ln/>
        </p:spPr>
        <p:txBody>
          <a:bodyPr wrap="square" rtlCol="0" anchor="t"/>
          <a:lstStyle/>
          <a:p>
            <a:pPr algn="ctr" indent="0" marL="0">
              <a:buNone/>
            </a:pPr>
            <a:r>
              <a:rPr lang="en-US" sz="1300" dirty="0">
                <a:solidFill>
                  <a:srgbClr val="111827"/>
                </a:solidFill>
                <a:latin typeface="Calibri" pitchFamily="34" charset="0"/>
                <a:ea typeface="Calibri" pitchFamily="34" charset="-122"/>
                <a:cs typeface="Calibri" pitchFamily="34" charset="-120"/>
              </a:rPr>
              <a:t>Dashboards</a:t>
            </a:r>
            <a:endParaRPr lang="en-US" sz="1300" dirty="0"/>
          </a:p>
          <a:p>
            <a:pPr algn="ctr" indent="0" marL="0">
              <a:buNone/>
            </a:pPr>
            <a:r>
              <a:rPr lang="en-US" sz="1300" dirty="0">
                <a:solidFill>
                  <a:srgbClr val="111827"/>
                </a:solidFill>
                <a:latin typeface="Calibri" pitchFamily="34" charset="0"/>
                <a:ea typeface="Calibri" pitchFamily="34" charset="-122"/>
                <a:cs typeface="Calibri" pitchFamily="34" charset="-120"/>
              </a:rPr>
              <a:t>Explore</a:t>
            </a:r>
            <a:endParaRPr lang="en-US" sz="1300" dirty="0"/>
          </a:p>
        </p:txBody>
      </p:sp>
      <p:sp>
        <p:nvSpPr>
          <p:cNvPr id="21" name="Shape 19"/>
          <p:cNvSpPr/>
          <p:nvPr/>
        </p:nvSpPr>
        <p:spPr>
          <a:xfrm>
            <a:off x="2468880" y="3200400"/>
            <a:ext cx="822960" cy="0"/>
          </a:xfrm>
          <a:prstGeom prst="line">
            <a:avLst/>
          </a:prstGeom>
          <a:noFill/>
          <a:ln w="31750">
            <a:solidFill>
              <a:srgbClr val="5B6475"/>
            </a:solidFill>
            <a:prstDash val="solid"/>
            <a:tailEnd type="triangle"/>
          </a:ln>
        </p:spPr>
      </p:sp>
      <p:sp>
        <p:nvSpPr>
          <p:cNvPr id="22" name="Text 20"/>
          <p:cNvSpPr/>
          <p:nvPr/>
        </p:nvSpPr>
        <p:spPr>
          <a:xfrm>
            <a:off x="2377440" y="2697480"/>
            <a:ext cx="2560320" cy="548640"/>
          </a:xfrm>
          <a:prstGeom prst="rect">
            <a:avLst/>
          </a:prstGeom>
          <a:noFill/>
          <a:ln/>
        </p:spPr>
        <p:txBody>
          <a:bodyPr wrap="square" rtlCol="0" anchor="ctr"/>
          <a:lstStyle/>
          <a:p>
            <a:pPr algn="ctr" indent="0" marL="0">
              <a:buNone/>
            </a:pPr>
            <a:r>
              <a:rPr lang="en-US" sz="1200" i="1" dirty="0">
                <a:solidFill>
                  <a:srgbClr val="5B6475"/>
                </a:solidFill>
                <a:latin typeface="Calibri" pitchFamily="34" charset="0"/>
                <a:ea typeface="Calibri" pitchFamily="34" charset="-122"/>
                <a:cs typeface="Calibri" pitchFamily="34" charset="-120"/>
              </a:rPr>
              <a:t>HTTP</a:t>
            </a:r>
            <a:endParaRPr lang="en-US" sz="1200" dirty="0"/>
          </a:p>
        </p:txBody>
      </p:sp>
      <p:sp>
        <p:nvSpPr>
          <p:cNvPr id="23" name="Shape 21"/>
          <p:cNvSpPr/>
          <p:nvPr/>
        </p:nvSpPr>
        <p:spPr>
          <a:xfrm flipH="1">
            <a:off x="6035040" y="2331720"/>
            <a:ext cx="1097280" cy="0"/>
          </a:xfrm>
          <a:prstGeom prst="line">
            <a:avLst/>
          </a:prstGeom>
          <a:noFill/>
          <a:ln w="31750">
            <a:solidFill>
              <a:srgbClr val="F46800"/>
            </a:solidFill>
            <a:prstDash val="solid"/>
            <a:tailEnd type="triangle"/>
          </a:ln>
        </p:spPr>
      </p:sp>
      <p:sp>
        <p:nvSpPr>
          <p:cNvPr id="24" name="Shape 22"/>
          <p:cNvSpPr/>
          <p:nvPr/>
        </p:nvSpPr>
        <p:spPr>
          <a:xfrm>
            <a:off x="6035040" y="4251960"/>
            <a:ext cx="1097280" cy="0"/>
          </a:xfrm>
          <a:prstGeom prst="line">
            <a:avLst/>
          </a:prstGeom>
          <a:noFill/>
          <a:ln w="31750">
            <a:solidFill>
              <a:srgbClr val="2563EB"/>
            </a:solidFill>
            <a:prstDash val="solid"/>
            <a:tailEnd type="triangle"/>
          </a:ln>
        </p:spPr>
      </p:sp>
      <p:sp>
        <p:nvSpPr>
          <p:cNvPr id="25" name="Text 23"/>
          <p:cNvSpPr/>
          <p:nvPr/>
        </p:nvSpPr>
        <p:spPr>
          <a:xfrm>
            <a:off x="6035040" y="2395728"/>
            <a:ext cx="1097280" cy="548640"/>
          </a:xfrm>
          <a:prstGeom prst="rect">
            <a:avLst/>
          </a:prstGeom>
          <a:noFill/>
          <a:ln/>
        </p:spPr>
        <p:txBody>
          <a:bodyPr wrap="square" rtlCol="0" anchor="ctr"/>
          <a:lstStyle/>
          <a:p>
            <a:pPr algn="ctr" indent="0" marL="0">
              <a:buNone/>
            </a:pPr>
            <a:r>
              <a:rPr lang="en-US" sz="1100" i="1" dirty="0">
                <a:solidFill>
                  <a:srgbClr val="F46800"/>
                </a:solidFill>
                <a:latin typeface="Calibri" pitchFamily="34" charset="0"/>
                <a:ea typeface="Calibri" pitchFamily="34" charset="-122"/>
                <a:cs typeface="Calibri" pitchFamily="34" charset="-120"/>
              </a:rPr>
              <a:t>pull: scrape</a:t>
            </a:r>
            <a:endParaRPr lang="en-US" sz="1100" dirty="0"/>
          </a:p>
          <a:p>
            <a:pPr algn="ctr" indent="0" marL="0">
              <a:buNone/>
            </a:pPr>
            <a:r>
              <a:rPr lang="en-US" sz="1100" i="1" dirty="0">
                <a:solidFill>
                  <a:srgbClr val="F46800"/>
                </a:solidFill>
                <a:latin typeface="Calibri" pitchFamily="34" charset="0"/>
                <a:ea typeface="Calibri" pitchFamily="34" charset="-122"/>
                <a:cs typeface="Calibri" pitchFamily="34" charset="-120"/>
              </a:rPr>
              <a:t>cada 5 s</a:t>
            </a:r>
            <a:endParaRPr lang="en-US" sz="1100" dirty="0"/>
          </a:p>
        </p:txBody>
      </p:sp>
      <p:sp>
        <p:nvSpPr>
          <p:cNvPr id="26" name="Text 24"/>
          <p:cNvSpPr/>
          <p:nvPr/>
        </p:nvSpPr>
        <p:spPr>
          <a:xfrm>
            <a:off x="5943600" y="3639312"/>
            <a:ext cx="1280160" cy="548640"/>
          </a:xfrm>
          <a:prstGeom prst="rect">
            <a:avLst/>
          </a:prstGeom>
          <a:noFill/>
          <a:ln/>
        </p:spPr>
        <p:txBody>
          <a:bodyPr wrap="square" rtlCol="0" anchor="ctr"/>
          <a:lstStyle/>
          <a:p>
            <a:pPr algn="ctr" indent="0" marL="0">
              <a:buNone/>
            </a:pPr>
            <a:r>
              <a:rPr lang="en-US" sz="1100" i="1" dirty="0">
                <a:solidFill>
                  <a:srgbClr val="2563EB"/>
                </a:solidFill>
                <a:latin typeface="Calibri" pitchFamily="34" charset="0"/>
                <a:ea typeface="Calibri" pitchFamily="34" charset="-122"/>
                <a:cs typeface="Calibri" pitchFamily="34" charset="-120"/>
              </a:rPr>
              <a:t>push: HTTP</a:t>
            </a:r>
            <a:endParaRPr lang="en-US" sz="1100" dirty="0"/>
          </a:p>
          <a:p>
            <a:pPr algn="ctr" indent="0" marL="0">
              <a:buNone/>
            </a:pPr>
            <a:r>
              <a:rPr lang="en-US" sz="1100" i="1" dirty="0">
                <a:solidFill>
                  <a:srgbClr val="2563EB"/>
                </a:solidFill>
                <a:latin typeface="Calibri" pitchFamily="34" charset="0"/>
                <a:ea typeface="Calibri" pitchFamily="34" charset="-122"/>
                <a:cs typeface="Calibri" pitchFamily="34" charset="-120"/>
              </a:rPr>
              <a:t>/loki/api/v1/push</a:t>
            </a:r>
            <a:endParaRPr lang="en-US" sz="1100" dirty="0"/>
          </a:p>
        </p:txBody>
      </p:sp>
      <p:sp>
        <p:nvSpPr>
          <p:cNvPr id="27" name="Shape 25"/>
          <p:cNvSpPr/>
          <p:nvPr/>
        </p:nvSpPr>
        <p:spPr>
          <a:xfrm>
            <a:off x="9235440" y="2331720"/>
            <a:ext cx="731520" cy="594360"/>
          </a:xfrm>
          <a:prstGeom prst="line">
            <a:avLst/>
          </a:prstGeom>
          <a:noFill/>
          <a:ln w="31750">
            <a:solidFill>
              <a:srgbClr val="F46800"/>
            </a:solidFill>
            <a:prstDash val="solid"/>
            <a:tailEnd type="triangle"/>
          </a:ln>
        </p:spPr>
      </p:sp>
      <p:sp>
        <p:nvSpPr>
          <p:cNvPr id="28" name="Shape 26"/>
          <p:cNvSpPr/>
          <p:nvPr/>
        </p:nvSpPr>
        <p:spPr>
          <a:xfrm flipV="1">
            <a:off x="9235440" y="3657600"/>
            <a:ext cx="731520" cy="594360"/>
          </a:xfrm>
          <a:prstGeom prst="line">
            <a:avLst/>
          </a:prstGeom>
          <a:noFill/>
          <a:ln w="31750">
            <a:solidFill>
              <a:srgbClr val="2563EB"/>
            </a:solidFill>
            <a:prstDash val="solid"/>
            <a:tailEnd type="triangle"/>
          </a:ln>
        </p:spPr>
      </p:sp>
      <p:sp>
        <p:nvSpPr>
          <p:cNvPr id="29" name="Text 27"/>
          <p:cNvSpPr/>
          <p:nvPr/>
        </p:nvSpPr>
        <p:spPr>
          <a:xfrm>
            <a:off x="9326880" y="1874520"/>
            <a:ext cx="1097280" cy="365760"/>
          </a:xfrm>
          <a:prstGeom prst="rect">
            <a:avLst/>
          </a:prstGeom>
          <a:noFill/>
          <a:ln/>
        </p:spPr>
        <p:txBody>
          <a:bodyPr wrap="square" rtlCol="0" anchor="ctr"/>
          <a:lstStyle/>
          <a:p>
            <a:pPr indent="0" marL="0">
              <a:buNone/>
            </a:pPr>
            <a:r>
              <a:rPr lang="en-US" sz="1200" i="1" dirty="0">
                <a:solidFill>
                  <a:srgbClr val="F46800"/>
                </a:solidFill>
                <a:latin typeface="Calibri" pitchFamily="34" charset="0"/>
                <a:ea typeface="Calibri" pitchFamily="34" charset="-122"/>
                <a:cs typeface="Calibri" pitchFamily="34" charset="-120"/>
              </a:rPr>
              <a:t>PromQL</a:t>
            </a:r>
            <a:endParaRPr lang="en-US" sz="1200" dirty="0"/>
          </a:p>
        </p:txBody>
      </p:sp>
      <p:sp>
        <p:nvSpPr>
          <p:cNvPr id="30" name="Text 28"/>
          <p:cNvSpPr/>
          <p:nvPr/>
        </p:nvSpPr>
        <p:spPr>
          <a:xfrm>
            <a:off x="9326880" y="4297680"/>
            <a:ext cx="1097280" cy="365760"/>
          </a:xfrm>
          <a:prstGeom prst="rect">
            <a:avLst/>
          </a:prstGeom>
          <a:noFill/>
          <a:ln/>
        </p:spPr>
        <p:txBody>
          <a:bodyPr wrap="square" rtlCol="0" anchor="ctr"/>
          <a:lstStyle/>
          <a:p>
            <a:pPr indent="0" marL="0">
              <a:buNone/>
            </a:pPr>
            <a:r>
              <a:rPr lang="en-US" sz="1200" i="1" dirty="0">
                <a:solidFill>
                  <a:srgbClr val="2563EB"/>
                </a:solidFill>
                <a:latin typeface="Calibri" pitchFamily="34" charset="0"/>
                <a:ea typeface="Calibri" pitchFamily="34" charset="-122"/>
                <a:cs typeface="Calibri" pitchFamily="34" charset="-120"/>
              </a:rPr>
              <a:t>LogQL</a:t>
            </a:r>
            <a:endParaRPr lang="en-US" sz="1200" dirty="0"/>
          </a:p>
        </p:txBody>
      </p:sp>
      <p:sp>
        <p:nvSpPr>
          <p:cNvPr id="31" name="Text 29"/>
          <p:cNvSpPr/>
          <p:nvPr/>
        </p:nvSpPr>
        <p:spPr>
          <a:xfrm>
            <a:off x="548640" y="5760720"/>
            <a:ext cx="11064240" cy="457200"/>
          </a:xfrm>
          <a:prstGeom prst="rect">
            <a:avLst/>
          </a:prstGeom>
          <a:noFill/>
          <a:ln/>
        </p:spPr>
        <p:txBody>
          <a:bodyPr wrap="square" rtlCol="0" anchor="ctr"/>
          <a:lstStyle/>
          <a:p>
            <a:pPr indent="0" marL="0">
              <a:buNone/>
            </a:pPr>
            <a:r>
              <a:rPr lang="en-US" sz="1600" dirty="0">
                <a:solidFill>
                  <a:srgbClr val="5B6475"/>
                </a:solidFill>
                <a:latin typeface="Calibri" pitchFamily="34" charset="0"/>
                <a:ea typeface="Calibri" pitchFamily="34" charset="-122"/>
                <a:cs typeface="Calibri" pitchFamily="34" charset="-120"/>
              </a:rPr>
              <a:t>Todo se levanta con un solo docker compose up: datasources y dashboard ya provisionados.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ESCENARIO</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La demo: una tienda con dos problemas escondidos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291840"/>
                <a:gridCol w="6217920"/>
                <a:gridCol w="1554480"/>
              </a:tblGrid>
              <a:tr h="54864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Endpoint</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Qué simula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Carga k6</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0B1220"/>
                    </a:solidFill>
                  </a:tcPr>
                </a:tc>
              </a:tr>
              <a:tr h="548640">
                <a:tc>
                  <a:txBody>
                    <a:bodyPr/>
                    <a:lstStyle/>
                    <a:p>
                      <a:pPr indent="0" marL="0">
                        <a:buNone/>
                      </a:pPr>
                      <a:r>
                        <a:rPr lang="en-US" sz="1400" b="1" dirty="0">
                          <a:solidFill>
                            <a:srgbClr val="111827"/>
                          </a:solidFill>
                          <a:latin typeface="Consolas" pitchFamily="34" charset="0"/>
                          <a:ea typeface="Consolas" pitchFamily="34" charset="-122"/>
                          <a:cs typeface="Consolas" pitchFamily="34" charset="-120"/>
                        </a:rPr>
                        <a:t>POST /api/pagos</a:t>
                      </a:r>
                      <a:endParaRPr lang="en-US" sz="1400" dirty="0">
                        <a:latin typeface="Consolas" charset="0"/>
                        <a:ea typeface="Consolas" charset="0"/>
                        <a:cs typeface="Consolas"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Pasarela externa: 90% rápida, 8% lenta, 2% muy lenta, ~4% timeouts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20 req/s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11827"/>
                          </a:solidFill>
                          <a:latin typeface="Consolas" pitchFamily="34" charset="0"/>
                          <a:ea typeface="Consolas" pitchFamily="34" charset="-122"/>
                          <a:cs typeface="Consolas" pitchFamily="34" charset="-120"/>
                        </a:rPr>
                        <a:t>GET /api/pedidos/n-mas-1</a:t>
                      </a:r>
                      <a:endParaRPr lang="en-US" sz="1400" dirty="0">
                        <a:latin typeface="Consolas" charset="0"/>
                        <a:ea typeface="Consolas" charset="0"/>
                        <a:cs typeface="Consolas"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JPA con relación LAZY: 1 consulta + 1 por cada pedido</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5 req/s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11827"/>
                          </a:solidFill>
                          <a:latin typeface="Consolas" pitchFamily="34" charset="0"/>
                          <a:ea typeface="Consolas" pitchFamily="34" charset="-122"/>
                          <a:cs typeface="Consolas" pitchFamily="34" charset="-120"/>
                        </a:rPr>
                        <a:t>GET /api/pedidos/optimizado</a:t>
                      </a:r>
                      <a:endParaRPr lang="en-US" sz="1400" dirty="0">
                        <a:latin typeface="Consolas" charset="0"/>
                        <a:ea typeface="Consolas" charset="0"/>
                        <a:cs typeface="Consolas"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Mismo resultado con JOIN FETCH</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5 req/s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11827"/>
                          </a:solidFill>
                          <a:latin typeface="Consolas" pitchFamily="34" charset="0"/>
                          <a:ea typeface="Consolas" pitchFamily="34" charset="-122"/>
                          <a:cs typeface="Consolas" pitchFamily="34" charset="-120"/>
                        </a:rPr>
                        <a:t>GET /api/catalogo</a:t>
                      </a:r>
                      <a:endParaRPr lang="en-US" sz="1400" dirty="0">
                        <a:latin typeface="Consolas" charset="0"/>
                        <a:ea typeface="Consolas" charset="0"/>
                        <a:cs typeface="Consolas"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Endpoint sano de referencia</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10 req/s</a:t>
                      </a:r>
                      <a:endParaRPr lang="en-US" sz="16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4663440"/>
            <a:ext cx="2926080" cy="731520"/>
          </a:xfrm>
          <a:prstGeom prst="rect">
            <a:avLst/>
          </a:prstGeom>
          <a:noFill/>
          <a:ln/>
        </p:spPr>
        <p:txBody>
          <a:bodyPr wrap="square" rtlCol="0" anchor="ctr"/>
          <a:lstStyle/>
          <a:p>
            <a:pPr indent="0" marL="0">
              <a:buNone/>
            </a:pPr>
            <a:r>
              <a:rPr lang="en-US" sz="4000" b="1" dirty="0">
                <a:solidFill>
                  <a:srgbClr val="F46800"/>
                </a:solidFill>
                <a:latin typeface="Calibri" pitchFamily="34" charset="0"/>
                <a:ea typeface="Calibri" pitchFamily="34" charset="-122"/>
                <a:cs typeface="Calibri" pitchFamily="34" charset="-120"/>
              </a:rPr>
              <a:t>9.603</a:t>
            </a:r>
            <a:endParaRPr lang="en-US" sz="4000" dirty="0"/>
          </a:p>
        </p:txBody>
      </p:sp>
      <p:sp>
        <p:nvSpPr>
          <p:cNvPr id="8" name="Text 5"/>
          <p:cNvSpPr/>
          <p:nvPr/>
        </p:nvSpPr>
        <p:spPr>
          <a:xfrm>
            <a:off x="548640" y="5394960"/>
            <a:ext cx="292608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requests en 4 minutos</a:t>
            </a:r>
            <a:endParaRPr lang="en-US" sz="1400" dirty="0"/>
          </a:p>
        </p:txBody>
      </p:sp>
      <p:sp>
        <p:nvSpPr>
          <p:cNvPr id="9" name="Text 6"/>
          <p:cNvSpPr/>
          <p:nvPr/>
        </p:nvSpPr>
        <p:spPr>
          <a:xfrm>
            <a:off x="3657600" y="4663440"/>
            <a:ext cx="2926080" cy="731520"/>
          </a:xfrm>
          <a:prstGeom prst="rect">
            <a:avLst/>
          </a:prstGeom>
          <a:noFill/>
          <a:ln/>
        </p:spPr>
        <p:txBody>
          <a:bodyPr wrap="square" rtlCol="0" anchor="ctr"/>
          <a:lstStyle/>
          <a:p>
            <a:pPr indent="0" marL="0">
              <a:buNone/>
            </a:pPr>
            <a:r>
              <a:rPr lang="en-US" sz="4000" b="1" dirty="0">
                <a:solidFill>
                  <a:srgbClr val="2563EB"/>
                </a:solidFill>
                <a:latin typeface="Calibri" pitchFamily="34" charset="0"/>
                <a:ea typeface="Calibri" pitchFamily="34" charset="-122"/>
                <a:cs typeface="Calibri" pitchFamily="34" charset="-120"/>
              </a:rPr>
              <a:t>40 req/s</a:t>
            </a:r>
            <a:endParaRPr lang="en-US" sz="4000" dirty="0"/>
          </a:p>
        </p:txBody>
      </p:sp>
      <p:sp>
        <p:nvSpPr>
          <p:cNvPr id="10" name="Text 7"/>
          <p:cNvSpPr/>
          <p:nvPr/>
        </p:nvSpPr>
        <p:spPr>
          <a:xfrm>
            <a:off x="3657600" y="5394960"/>
            <a:ext cx="292608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tráfico sostenido</a:t>
            </a:r>
            <a:endParaRPr lang="en-US" sz="1400" dirty="0"/>
          </a:p>
        </p:txBody>
      </p:sp>
      <p:sp>
        <p:nvSpPr>
          <p:cNvPr id="11" name="Text 8"/>
          <p:cNvSpPr/>
          <p:nvPr/>
        </p:nvSpPr>
        <p:spPr>
          <a:xfrm>
            <a:off x="6766560" y="4663440"/>
            <a:ext cx="4846320" cy="731520"/>
          </a:xfrm>
          <a:prstGeom prst="rect">
            <a:avLst/>
          </a:prstGeom>
          <a:noFill/>
          <a:ln/>
        </p:spPr>
        <p:txBody>
          <a:bodyPr wrap="square" rtlCol="0" anchor="ctr"/>
          <a:lstStyle/>
          <a:p>
            <a:pPr indent="0" marL="0">
              <a:buNone/>
            </a:pPr>
            <a:r>
              <a:rPr lang="en-US" sz="4000" b="1" dirty="0">
                <a:solidFill>
                  <a:srgbClr val="15803D"/>
                </a:solidFill>
                <a:latin typeface="Calibri" pitchFamily="34" charset="0"/>
                <a:ea typeface="Calibri" pitchFamily="34" charset="-122"/>
                <a:cs typeface="Calibri" pitchFamily="34" charset="-120"/>
              </a:rPr>
              <a:t>100 pedidos × 3 ítems</a:t>
            </a:r>
            <a:endParaRPr lang="en-US" sz="4000" dirty="0"/>
          </a:p>
        </p:txBody>
      </p:sp>
      <p:sp>
        <p:nvSpPr>
          <p:cNvPr id="12" name="Text 9"/>
          <p:cNvSpPr/>
          <p:nvPr/>
        </p:nvSpPr>
        <p:spPr>
          <a:xfrm>
            <a:off x="6766560" y="5394960"/>
            <a:ext cx="484632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H2 en memoria + 2 ms simulados de red a la BD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RESULTADO DE LA CARGA</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El dashboard RED en Grafana (datos reales)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8</a:t>
            </a:r>
            <a:endParaRPr lang="en-US" sz="1000" dirty="0"/>
          </a:p>
        </p:txBody>
      </p:sp>
      <p:pic>
        <p:nvPicPr>
          <p:cNvPr id="6" name="Image 0" descr="C:\Users\usuario\Documents\proyectos\UNIVERSIDAD\profu2\arquitectura-software\observabilidad-demo\resultados\capturas\recorte-red.png">    </p:cNvPr>
          <p:cNvPicPr>
            <a:picLocks noChangeAspect="1"/>
          </p:cNvPicPr>
          <p:nvPr/>
        </p:nvPicPr>
        <p:blipFill>
          <a:blip r:embed="rId1"/>
          <a:stretch>
            <a:fillRect/>
          </a:stretch>
        </p:blipFill>
        <p:spPr>
          <a:xfrm>
            <a:off x="548640" y="1508760"/>
            <a:ext cx="11064240" cy="4040312"/>
          </a:xfrm>
          <a:prstGeom prst="rect">
            <a:avLst/>
          </a:prstGeom>
        </p:spPr>
      </p:pic>
      <p:sp>
        <p:nvSpPr>
          <p:cNvPr id="7" name="Shape 4"/>
          <p:cNvSpPr/>
          <p:nvPr/>
        </p:nvSpPr>
        <p:spPr>
          <a:xfrm>
            <a:off x="548640" y="1508760"/>
            <a:ext cx="11064240" cy="4040312"/>
          </a:xfrm>
          <a:prstGeom prst="rect">
            <a:avLst/>
          </a:prstGeom>
          <a:ln w="12700">
            <a:solidFill>
              <a:srgbClr val="D9DEE7"/>
            </a:solidFill>
            <a:prstDash val="solid"/>
          </a:ln>
        </p:spPr>
      </p:sp>
      <p:sp>
        <p:nvSpPr>
          <p:cNvPr id="8" name="Text 5"/>
          <p:cNvSpPr/>
          <p:nvPr/>
        </p:nvSpPr>
        <p:spPr>
          <a:xfrm>
            <a:off x="548640" y="5760720"/>
            <a:ext cx="11064240" cy="457200"/>
          </a:xfrm>
          <a:prstGeom prst="rect">
            <a:avLst/>
          </a:prstGeom>
          <a:noFill/>
          <a:ln/>
        </p:spPr>
        <p:txBody>
          <a:bodyPr wrap="square" rtlCol="0" anchor="ctr"/>
          <a:lstStyle/>
          <a:p>
            <a:pPr indent="0" marL="0">
              <a:buNone/>
            </a:pPr>
            <a:r>
              <a:rPr lang="en-US" sz="1500" dirty="0">
                <a:solidFill>
                  <a:srgbClr val="5B6475"/>
                </a:solidFill>
                <a:latin typeface="Calibri" pitchFamily="34" charset="0"/>
                <a:ea typeface="Calibri" pitchFamily="34" charset="-122"/>
                <a:cs typeface="Calibri" pitchFamily="34" charset="-120"/>
              </a:rPr>
              <a:t>Tráfico · Errores 5xx · Latencia p95 · Consultas SQL por request — todo provisionado como código.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/API/PAGOS · LATENCIA</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Cuello de botella 1: el promedio miente</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9</a:t>
            </a:r>
            <a:endParaRPr lang="en-US" sz="1000" dirty="0"/>
          </a:p>
        </p:txBody>
      </p:sp>
      <p:graphicFrame>
        <p:nvGraphicFramePr>
          <p:cNvPr id="6" name="Chart 0" descr=""/>
          <p:cNvGraphicFramePr/>
          <p:nvPr/>
        </p:nvGraphicFramePr>
        <p:xfrm>
          <a:off x="548640" y="155448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858000" y="1554480"/>
            <a:ext cx="4754880" cy="1554480"/>
          </a:xfrm>
          <a:prstGeom prst="rect">
            <a:avLst/>
          </a:prstGeom>
          <a:noFill/>
          <a:ln/>
        </p:spPr>
        <p:txBody>
          <a:bodyPr wrap="square"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Promedio 103 ms</a:t>
            </a:r>
            <a:pPr indent="0" marL="0">
              <a:buNone/>
            </a:pPr>
            <a:r>
              <a:rPr lang="en-US" sz="1700" dirty="0">
                <a:solidFill>
                  <a:srgbClr val="111827"/>
                </a:solidFill>
                <a:latin typeface="Calibri" pitchFamily="34" charset="0"/>
                <a:ea typeface="Calibri" pitchFamily="34" charset="-122"/>
                <a:cs typeface="Calibri" pitchFamily="34" charset="-120"/>
              </a:rPr>
              <a:t> parece sano. Pero 1 de cada 100 pagos tarda </a:t>
            </a:r>
            <a:pPr indent="0" marL="0">
              <a:buNone/>
            </a:pPr>
            <a:r>
              <a:rPr lang="en-US" sz="1700" b="1" dirty="0">
                <a:solidFill>
                  <a:srgbClr val="DC2626"/>
                </a:solidFill>
                <a:latin typeface="Calibri" pitchFamily="34" charset="0"/>
                <a:ea typeface="Calibri" pitchFamily="34" charset="-122"/>
                <a:cs typeface="Calibri" pitchFamily="34" charset="-120"/>
              </a:rPr>
              <a:t>más de 1,5 s</a:t>
            </a:r>
            <a:pPr indent="0" marL="0">
              <a:buNone/>
            </a:pPr>
            <a:r>
              <a:rPr lang="en-US" sz="1700" dirty="0">
                <a:solidFill>
                  <a:srgbClr val="111827"/>
                </a:solidFill>
                <a:latin typeface="Calibri" pitchFamily="34" charset="0"/>
                <a:ea typeface="Calibri" pitchFamily="34" charset="-122"/>
                <a:cs typeface="Calibri" pitchFamily="34" charset="-120"/>
              </a:rPr>
              <a:t>. A 20 pagos por segundo, eso es un cliente frustrado cada 5 segundos.</a:t>
            </a:r>
            <a:endParaRPr lang="en-US" sz="1700" dirty="0"/>
          </a:p>
        </p:txBody>
      </p:sp>
      <p:sp>
        <p:nvSpPr>
          <p:cNvPr id="8" name="Text 5"/>
          <p:cNvSpPr/>
          <p:nvPr/>
        </p:nvSpPr>
        <p:spPr>
          <a:xfrm>
            <a:off x="6858000" y="3200400"/>
            <a:ext cx="4572000" cy="320040"/>
          </a:xfrm>
          <a:prstGeom prst="rect">
            <a:avLst/>
          </a:prstGeom>
          <a:noFill/>
          <a:ln/>
        </p:spPr>
        <p:txBody>
          <a:bodyPr wrap="square"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PromQL</a:t>
            </a:r>
            <a:endParaRPr lang="en-US" sz="1300" dirty="0"/>
          </a:p>
        </p:txBody>
      </p:sp>
      <p:sp>
        <p:nvSpPr>
          <p:cNvPr id="9" name="Shape 6"/>
          <p:cNvSpPr/>
          <p:nvPr/>
        </p:nvSpPr>
        <p:spPr>
          <a:xfrm>
            <a:off x="6858000" y="3520440"/>
            <a:ext cx="4754880" cy="1325880"/>
          </a:xfrm>
          <a:prstGeom prst="rect">
            <a:avLst/>
          </a:prstGeom>
          <a:solidFill>
            <a:srgbClr val="0F172A"/>
          </a:solidFill>
          <a:ln w="12700">
            <a:solidFill>
              <a:srgbClr val="0F172A"/>
            </a:solidFill>
            <a:prstDash val="solid"/>
          </a:ln>
        </p:spPr>
      </p:sp>
      <p:sp>
        <p:nvSpPr>
          <p:cNvPr id="10" name="Text 7"/>
          <p:cNvSpPr/>
          <p:nvPr/>
        </p:nvSpPr>
        <p:spPr>
          <a:xfrm>
            <a:off x="6995160" y="3611880"/>
            <a:ext cx="4480560" cy="1143000"/>
          </a:xfrm>
          <a:prstGeom prst="rect">
            <a:avLst/>
          </a:prstGeom>
          <a:noFill/>
          <a:ln/>
        </p:spPr>
        <p:txBody>
          <a:bodyPr wrap="square"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histogram_quantile(0.99,</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sum by (le, uri)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rate(http_server_requests_seconds_bucket</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{uri="/api/pagos"}[1m])))</a:t>
            </a:r>
            <a:endParaRPr lang="en-US" sz="1200" dirty="0"/>
          </a:p>
        </p:txBody>
      </p:sp>
      <p:sp>
        <p:nvSpPr>
          <p:cNvPr id="11" name="Text 8"/>
          <p:cNvSpPr/>
          <p:nvPr/>
        </p:nvSpPr>
        <p:spPr>
          <a:xfrm>
            <a:off x="6858000" y="4983480"/>
            <a:ext cx="4754880" cy="822960"/>
          </a:xfrm>
          <a:prstGeom prst="rect">
            <a:avLst/>
          </a:prstGeom>
          <a:noFill/>
          <a:ln/>
        </p:spPr>
        <p:txBody>
          <a:bodyPr wrap="square" rtlCol="0" anchor="ctr"/>
          <a:lstStyle/>
          <a:p>
            <a:pPr indent="0" marL="0">
              <a:buNone/>
            </a:pPr>
            <a:r>
              <a:rPr lang="en-US" sz="1400" i="1" dirty="0">
                <a:solidFill>
                  <a:srgbClr val="15803D"/>
                </a:solidFill>
                <a:latin typeface="Calibri" pitchFamily="34" charset="0"/>
                <a:ea typeface="Calibri" pitchFamily="34" charset="-122"/>
                <a:cs typeface="Calibri" pitchFamily="34" charset="-120"/>
              </a:rPr>
              <a:t>k6 midió del lado del cliente p95 = 376 ms y p99 = 1.559 ms: coincide con Prometheus.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/API/PEDIDOS · BASE DE DATOS</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Cuello de botella 2: el problema N+1</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10</a:t>
            </a:r>
            <a:endParaRPr lang="en-US" sz="1000" dirty="0"/>
          </a:p>
        </p:txBody>
      </p:sp>
      <p:sp>
        <p:nvSpPr>
          <p:cNvPr id="6" name="Text 4"/>
          <p:cNvSpPr/>
          <p:nvPr/>
        </p:nvSpPr>
        <p:spPr>
          <a:xfrm>
            <a:off x="548640" y="1554480"/>
            <a:ext cx="2651760" cy="731520"/>
          </a:xfrm>
          <a:prstGeom prst="rect">
            <a:avLst/>
          </a:prstGeom>
          <a:noFill/>
          <a:ln/>
        </p:spPr>
        <p:txBody>
          <a:bodyPr wrap="square" rtlCol="0" anchor="ctr"/>
          <a:lstStyle/>
          <a:p>
            <a:pPr indent="0" marL="0">
              <a:buNone/>
            </a:pPr>
            <a:r>
              <a:rPr lang="en-US" sz="4000" b="1" dirty="0">
                <a:solidFill>
                  <a:srgbClr val="DC2626"/>
                </a:solidFill>
                <a:latin typeface="Calibri" pitchFamily="34" charset="0"/>
                <a:ea typeface="Calibri" pitchFamily="34" charset="-122"/>
                <a:cs typeface="Calibri" pitchFamily="34" charset="-120"/>
              </a:rPr>
              <a:t>101</a:t>
            </a:r>
            <a:endParaRPr lang="en-US" sz="4000" dirty="0"/>
          </a:p>
        </p:txBody>
      </p:sp>
      <p:sp>
        <p:nvSpPr>
          <p:cNvPr id="7" name="Text 5"/>
          <p:cNvSpPr/>
          <p:nvPr/>
        </p:nvSpPr>
        <p:spPr>
          <a:xfrm>
            <a:off x="548640" y="2286000"/>
            <a:ext cx="265176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consultas SQL por request (N+1)</a:t>
            </a:r>
            <a:endParaRPr lang="en-US" sz="1400" dirty="0"/>
          </a:p>
        </p:txBody>
      </p:sp>
      <p:sp>
        <p:nvSpPr>
          <p:cNvPr id="8" name="Text 6"/>
          <p:cNvSpPr/>
          <p:nvPr/>
        </p:nvSpPr>
        <p:spPr>
          <a:xfrm>
            <a:off x="3291840" y="1554480"/>
            <a:ext cx="2651760" cy="731520"/>
          </a:xfrm>
          <a:prstGeom prst="rect">
            <a:avLst/>
          </a:prstGeom>
          <a:noFill/>
          <a:ln/>
        </p:spPr>
        <p:txBody>
          <a:bodyPr wrap="square" rtlCol="0" anchor="ctr"/>
          <a:lstStyle/>
          <a:p>
            <a:pPr indent="0" marL="0">
              <a:buNone/>
            </a:pPr>
            <a:r>
              <a:rPr lang="en-US" sz="4000" b="1" dirty="0">
                <a:solidFill>
                  <a:srgbClr val="15803D"/>
                </a:solidFill>
                <a:latin typeface="Calibri" pitchFamily="34" charset="0"/>
                <a:ea typeface="Calibri" pitchFamily="34" charset="-122"/>
                <a:cs typeface="Calibri" pitchFamily="34" charset="-120"/>
              </a:rPr>
              <a:t>1</a:t>
            </a:r>
            <a:endParaRPr lang="en-US" sz="4000" dirty="0"/>
          </a:p>
        </p:txBody>
      </p:sp>
      <p:sp>
        <p:nvSpPr>
          <p:cNvPr id="9" name="Text 7"/>
          <p:cNvSpPr/>
          <p:nvPr/>
        </p:nvSpPr>
        <p:spPr>
          <a:xfrm>
            <a:off x="3291840" y="2286000"/>
            <a:ext cx="265176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consulta con JOIN FETCH</a:t>
            </a:r>
            <a:endParaRPr lang="en-US" sz="1400" dirty="0"/>
          </a:p>
        </p:txBody>
      </p:sp>
      <p:graphicFrame>
        <p:nvGraphicFramePr>
          <p:cNvPr id="10" name="Chart 0" descr=""/>
          <p:cNvGraphicFramePr/>
          <p:nvPr/>
        </p:nvGraphicFramePr>
        <p:xfrm>
          <a:off x="548640" y="3017520"/>
          <a:ext cx="5394960" cy="283464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p:nvPr/>
        </p:nvSpPr>
        <p:spPr>
          <a:xfrm>
            <a:off x="6309360" y="1554480"/>
            <a:ext cx="5303520" cy="320040"/>
          </a:xfrm>
          <a:prstGeom prst="rect">
            <a:avLst/>
          </a:prstGeom>
          <a:noFill/>
          <a:ln/>
        </p:spPr>
        <p:txBody>
          <a:bodyPr wrap="square"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El log estructurado lo delata (LogQL)</a:t>
            </a:r>
            <a:endParaRPr lang="en-US" sz="1300" dirty="0"/>
          </a:p>
        </p:txBody>
      </p:sp>
      <p:sp>
        <p:nvSpPr>
          <p:cNvPr id="12" name="Shape 9"/>
          <p:cNvSpPr/>
          <p:nvPr/>
        </p:nvSpPr>
        <p:spPr>
          <a:xfrm>
            <a:off x="6309360" y="1874520"/>
            <a:ext cx="5303520" cy="960120"/>
          </a:xfrm>
          <a:prstGeom prst="rect">
            <a:avLst/>
          </a:prstGeom>
          <a:solidFill>
            <a:srgbClr val="0F172A"/>
          </a:solidFill>
          <a:ln w="12700">
            <a:solidFill>
              <a:srgbClr val="0F172A"/>
            </a:solidFill>
            <a:prstDash val="solid"/>
          </a:ln>
        </p:spPr>
      </p:sp>
      <p:sp>
        <p:nvSpPr>
          <p:cNvPr id="13" name="Text 10"/>
          <p:cNvSpPr/>
          <p:nvPr/>
        </p:nvSpPr>
        <p:spPr>
          <a:xfrm>
            <a:off x="6446520" y="1965960"/>
            <a:ext cx="5029200" cy="777240"/>
          </a:xfrm>
          <a:prstGeom prst="rect">
            <a:avLst/>
          </a:prstGeom>
          <a:noFill/>
          <a:ln/>
        </p:spPr>
        <p:txBody>
          <a:bodyPr wrap="square"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{app="api-demo"}</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 json</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 mdc_sql_consultas &gt; 50</a:t>
            </a:r>
            <a:endParaRPr lang="en-US" sz="1300" dirty="0"/>
          </a:p>
        </p:txBody>
      </p:sp>
      <p:sp>
        <p:nvSpPr>
          <p:cNvPr id="14" name="Shape 11"/>
          <p:cNvSpPr/>
          <p:nvPr/>
        </p:nvSpPr>
        <p:spPr>
          <a:xfrm>
            <a:off x="6309360" y="2971800"/>
            <a:ext cx="5303520" cy="1280160"/>
          </a:xfrm>
          <a:prstGeom prst="rect">
            <a:avLst/>
          </a:prstGeom>
          <a:solidFill>
            <a:srgbClr val="0F172A"/>
          </a:solidFill>
          <a:ln w="12700">
            <a:solidFill>
              <a:srgbClr val="0F172A"/>
            </a:solidFill>
            <a:prstDash val="solid"/>
          </a:ln>
        </p:spPr>
      </p:sp>
      <p:sp>
        <p:nvSpPr>
          <p:cNvPr id="15" name="Text 12"/>
          <p:cNvSpPr/>
          <p:nvPr/>
        </p:nvSpPr>
        <p:spPr>
          <a:xfrm>
            <a:off x="6446520" y="3063240"/>
            <a:ext cx="5029200" cy="109728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"message":"request GET /api/pedidos/n-mas-1</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-&gt; 200 en 217 ms (101 consultas SQL)",</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"mdc_request_id":"20efa79a",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"mdc_sql_consultas":"101"</a:t>
            </a:r>
            <a:endParaRPr lang="en-US" sz="1100" dirty="0"/>
          </a:p>
        </p:txBody>
      </p:sp>
      <p:sp>
        <p:nvSpPr>
          <p:cNvPr id="16" name="Text 13"/>
          <p:cNvSpPr/>
          <p:nvPr/>
        </p:nvSpPr>
        <p:spPr>
          <a:xfrm>
            <a:off x="6309360" y="4389120"/>
            <a:ext cx="5303520" cy="320040"/>
          </a:xfrm>
          <a:prstGeom prst="rect">
            <a:avLst/>
          </a:prstGeom>
          <a:noFill/>
          <a:ln/>
        </p:spPr>
        <p:txBody>
          <a:bodyPr wrap="square"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Arreglo: una línea en el repositorio</a:t>
            </a:r>
            <a:endParaRPr lang="en-US" sz="1300" dirty="0"/>
          </a:p>
        </p:txBody>
      </p:sp>
      <p:sp>
        <p:nvSpPr>
          <p:cNvPr id="17" name="Shape 14"/>
          <p:cNvSpPr/>
          <p:nvPr/>
        </p:nvSpPr>
        <p:spPr>
          <a:xfrm>
            <a:off x="6309360" y="4709160"/>
            <a:ext cx="5303520" cy="731520"/>
          </a:xfrm>
          <a:prstGeom prst="rect">
            <a:avLst/>
          </a:prstGeom>
          <a:solidFill>
            <a:srgbClr val="0F172A"/>
          </a:solidFill>
          <a:ln w="12700">
            <a:solidFill>
              <a:srgbClr val="0F172A"/>
            </a:solidFill>
            <a:prstDash val="solid"/>
          </a:ln>
        </p:spPr>
      </p:sp>
      <p:sp>
        <p:nvSpPr>
          <p:cNvPr id="18" name="Text 15"/>
          <p:cNvSpPr/>
          <p:nvPr/>
        </p:nvSpPr>
        <p:spPr>
          <a:xfrm>
            <a:off x="6446520" y="4800600"/>
            <a:ext cx="5029200" cy="548640"/>
          </a:xfrm>
          <a:prstGeom prst="rect">
            <a:avLst/>
          </a:prstGeom>
          <a:noFill/>
          <a:ln/>
        </p:spPr>
        <p:txBody>
          <a:bodyPr wrap="square"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@Query("select distinct p from Pedido p</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left join fetch p.items")</a:t>
            </a:r>
            <a:endParaRPr lang="en-US" sz="1200" dirty="0"/>
          </a:p>
        </p:txBody>
      </p:sp>
      <p:sp>
        <p:nvSpPr>
          <p:cNvPr id="19" name="Text 16"/>
          <p:cNvSpPr/>
          <p:nvPr/>
        </p:nvSpPr>
        <p:spPr>
          <a:xfrm>
            <a:off x="6309360" y="5532120"/>
            <a:ext cx="5303520" cy="411480"/>
          </a:xfrm>
          <a:prstGeom prst="rect">
            <a:avLst/>
          </a:prstGeom>
          <a:noFill/>
          <a:ln/>
        </p:spPr>
        <p:txBody>
          <a:bodyPr wrap="square" rtlCol="0" anchor="ctr"/>
          <a:lstStyle/>
          <a:p>
            <a:pPr indent="0" marL="0">
              <a:buNone/>
            </a:pPr>
            <a:r>
              <a:rPr lang="en-US" sz="1700" b="1" dirty="0">
                <a:solidFill>
                  <a:srgbClr val="15803D"/>
                </a:solidFill>
                <a:latin typeface="Calibri" pitchFamily="34" charset="0"/>
                <a:ea typeface="Calibri" pitchFamily="34" charset="-122"/>
                <a:cs typeface="Calibri" pitchFamily="34" charset="-120"/>
              </a:rPr>
              <a:t>≈ 45× más rápido con el mismo resultado</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/API/PAGOS · ERRORES</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De la alerta al log: la tasa de errores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11</a:t>
            </a:r>
            <a:endParaRPr lang="en-US" sz="1000" dirty="0"/>
          </a:p>
        </p:txBody>
      </p:sp>
      <p:pic>
        <p:nvPicPr>
          <p:cNvPr id="6" name="Image 0" descr="C:\Users\usuario\Documents\proyectos\UNIVERSIDAD\profu2\arquitectura-software\observabilidad-demo\resultados\capturas\recorte-errores.png">    </p:cNvPr>
          <p:cNvPicPr>
            <a:picLocks noChangeAspect="1"/>
          </p:cNvPicPr>
          <p:nvPr/>
        </p:nvPicPr>
        <p:blipFill>
          <a:blip r:embed="rId1"/>
          <a:stretch>
            <a:fillRect/>
          </a:stretch>
        </p:blipFill>
        <p:spPr>
          <a:xfrm>
            <a:off x="548640" y="1508760"/>
            <a:ext cx="5760720" cy="2342836"/>
          </a:xfrm>
          <a:prstGeom prst="rect">
            <a:avLst/>
          </a:prstGeom>
        </p:spPr>
      </p:pic>
      <p:sp>
        <p:nvSpPr>
          <p:cNvPr id="7" name="Shape 4"/>
          <p:cNvSpPr/>
          <p:nvPr/>
        </p:nvSpPr>
        <p:spPr>
          <a:xfrm>
            <a:off x="548640" y="1508760"/>
            <a:ext cx="5760720" cy="2342836"/>
          </a:xfrm>
          <a:prstGeom prst="rect">
            <a:avLst/>
          </a:prstGeom>
          <a:ln w="12700">
            <a:solidFill>
              <a:srgbClr val="D9DEE7"/>
            </a:solidFill>
            <a:prstDash val="solid"/>
          </a:ln>
        </p:spPr>
      </p:sp>
      <p:sp>
        <p:nvSpPr>
          <p:cNvPr id="8" name="Text 5"/>
          <p:cNvSpPr/>
          <p:nvPr/>
        </p:nvSpPr>
        <p:spPr>
          <a:xfrm>
            <a:off x="548640" y="4114800"/>
            <a:ext cx="2651760" cy="731520"/>
          </a:xfrm>
          <a:prstGeom prst="rect">
            <a:avLst/>
          </a:prstGeom>
          <a:noFill/>
          <a:ln/>
        </p:spPr>
        <p:txBody>
          <a:bodyPr wrap="square" rtlCol="0" anchor="ctr"/>
          <a:lstStyle/>
          <a:p>
            <a:pPr indent="0" marL="0">
              <a:buNone/>
            </a:pPr>
            <a:r>
              <a:rPr lang="en-US" sz="4000" b="1" dirty="0">
                <a:solidFill>
                  <a:srgbClr val="DC2626"/>
                </a:solidFill>
                <a:latin typeface="Calibri" pitchFamily="34" charset="0"/>
                <a:ea typeface="Calibri" pitchFamily="34" charset="-122"/>
                <a:cs typeface="Calibri" pitchFamily="34" charset="-120"/>
              </a:rPr>
              <a:t>4,4%</a:t>
            </a:r>
            <a:endParaRPr lang="en-US" sz="4000" dirty="0"/>
          </a:p>
        </p:txBody>
      </p:sp>
      <p:sp>
        <p:nvSpPr>
          <p:cNvPr id="9" name="Text 6"/>
          <p:cNvSpPr/>
          <p:nvPr/>
        </p:nvSpPr>
        <p:spPr>
          <a:xfrm>
            <a:off x="548640" y="4846320"/>
            <a:ext cx="265176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de los pagos fallan (213 de 4.801)</a:t>
            </a:r>
            <a:endParaRPr lang="en-US" sz="1400" dirty="0"/>
          </a:p>
        </p:txBody>
      </p:sp>
      <p:sp>
        <p:nvSpPr>
          <p:cNvPr id="10" name="Text 7"/>
          <p:cNvSpPr/>
          <p:nvPr/>
        </p:nvSpPr>
        <p:spPr>
          <a:xfrm>
            <a:off x="3383280" y="4114800"/>
            <a:ext cx="2926080" cy="731520"/>
          </a:xfrm>
          <a:prstGeom prst="rect">
            <a:avLst/>
          </a:prstGeom>
          <a:noFill/>
          <a:ln/>
        </p:spPr>
        <p:txBody>
          <a:bodyPr wrap="square" rtlCol="0" anchor="ctr"/>
          <a:lstStyle/>
          <a:p>
            <a:pPr indent="0" marL="0">
              <a:buNone/>
            </a:pPr>
            <a:r>
              <a:rPr lang="en-US" sz="4000" b="1" dirty="0">
                <a:solidFill>
                  <a:srgbClr val="DC2626"/>
                </a:solidFill>
                <a:latin typeface="Calibri" pitchFamily="34" charset="0"/>
                <a:ea typeface="Calibri" pitchFamily="34" charset="-122"/>
                <a:cs typeface="Calibri" pitchFamily="34" charset="-120"/>
              </a:rPr>
              <a:t>FIRING</a:t>
            </a:r>
            <a:endParaRPr lang="en-US" sz="4000" dirty="0"/>
          </a:p>
        </p:txBody>
      </p:sp>
      <p:sp>
        <p:nvSpPr>
          <p:cNvPr id="11" name="Text 8"/>
          <p:cNvSpPr/>
          <p:nvPr/>
        </p:nvSpPr>
        <p:spPr>
          <a:xfrm>
            <a:off x="3383280" y="4846320"/>
            <a:ext cx="2926080" cy="54864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alerta TasaErroresAlta (&gt; 2% durante 1 min)</a:t>
            </a:r>
            <a:endParaRPr lang="en-US" sz="1400" dirty="0"/>
          </a:p>
        </p:txBody>
      </p:sp>
      <p:sp>
        <p:nvSpPr>
          <p:cNvPr id="12" name="Text 9"/>
          <p:cNvSpPr/>
          <p:nvPr/>
        </p:nvSpPr>
        <p:spPr>
          <a:xfrm>
            <a:off x="6583680" y="1508760"/>
            <a:ext cx="5029200" cy="320040"/>
          </a:xfrm>
          <a:prstGeom prst="rect">
            <a:avLst/>
          </a:prstGeom>
          <a:noFill/>
          <a:ln/>
        </p:spPr>
        <p:txBody>
          <a:bodyPr wrap="square"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1. La métrica alerta (PromQL)</a:t>
            </a:r>
            <a:endParaRPr lang="en-US" sz="1300" dirty="0"/>
          </a:p>
        </p:txBody>
      </p:sp>
      <p:sp>
        <p:nvSpPr>
          <p:cNvPr id="13" name="Shape 10"/>
          <p:cNvSpPr/>
          <p:nvPr/>
        </p:nvSpPr>
        <p:spPr>
          <a:xfrm>
            <a:off x="6583680" y="1828800"/>
            <a:ext cx="5029200" cy="1234440"/>
          </a:xfrm>
          <a:prstGeom prst="rect">
            <a:avLst/>
          </a:prstGeom>
          <a:solidFill>
            <a:srgbClr val="0F172A"/>
          </a:solidFill>
          <a:ln w="12700">
            <a:solidFill>
              <a:srgbClr val="0F172A"/>
            </a:solidFill>
            <a:prstDash val="solid"/>
          </a:ln>
        </p:spPr>
      </p:sp>
      <p:sp>
        <p:nvSpPr>
          <p:cNvPr id="14" name="Text 11"/>
          <p:cNvSpPr/>
          <p:nvPr/>
        </p:nvSpPr>
        <p:spPr>
          <a:xfrm>
            <a:off x="6720840" y="1920240"/>
            <a:ext cx="4754880" cy="105156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sum by (uri)(rate(http_server_requests_seconds_count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{status=~"5.."}[2m]))</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sum by (uri)(rate(http_server_requests_seconds_count[2m]))</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&gt; 0.02</a:t>
            </a:r>
            <a:endParaRPr lang="en-US" sz="1100" dirty="0"/>
          </a:p>
        </p:txBody>
      </p:sp>
      <p:sp>
        <p:nvSpPr>
          <p:cNvPr id="15" name="Text 12"/>
          <p:cNvSpPr/>
          <p:nvPr/>
        </p:nvSpPr>
        <p:spPr>
          <a:xfrm>
            <a:off x="6583680" y="3200400"/>
            <a:ext cx="5029200" cy="320040"/>
          </a:xfrm>
          <a:prstGeom prst="rect">
            <a:avLst/>
          </a:prstGeom>
          <a:noFill/>
          <a:ln/>
        </p:spPr>
        <p:txBody>
          <a:bodyPr wrap="square"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2. El log explica (LogQL)</a:t>
            </a:r>
            <a:endParaRPr lang="en-US" sz="1300" dirty="0"/>
          </a:p>
        </p:txBody>
      </p:sp>
      <p:sp>
        <p:nvSpPr>
          <p:cNvPr id="16" name="Shape 13"/>
          <p:cNvSpPr/>
          <p:nvPr/>
        </p:nvSpPr>
        <p:spPr>
          <a:xfrm>
            <a:off x="6583680" y="3520440"/>
            <a:ext cx="5029200" cy="457200"/>
          </a:xfrm>
          <a:prstGeom prst="rect">
            <a:avLst/>
          </a:prstGeom>
          <a:solidFill>
            <a:srgbClr val="0F172A"/>
          </a:solidFill>
          <a:ln w="12700">
            <a:solidFill>
              <a:srgbClr val="0F172A"/>
            </a:solidFill>
            <a:prstDash val="solid"/>
          </a:ln>
        </p:spPr>
      </p:sp>
      <p:sp>
        <p:nvSpPr>
          <p:cNvPr id="17" name="Text 14"/>
          <p:cNvSpPr/>
          <p:nvPr/>
        </p:nvSpPr>
        <p:spPr>
          <a:xfrm>
            <a:off x="6720840" y="3611880"/>
            <a:ext cx="4754880" cy="274320"/>
          </a:xfrm>
          <a:prstGeom prst="rect">
            <a:avLst/>
          </a:prstGeom>
          <a:noFill/>
          <a:ln/>
        </p:spPr>
        <p:txBody>
          <a:bodyPr wrap="square"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{app="api-demo", level="ERROR"}</a:t>
            </a:r>
            <a:endParaRPr lang="en-US" sz="1200" dirty="0"/>
          </a:p>
        </p:txBody>
      </p:sp>
      <p:sp>
        <p:nvSpPr>
          <p:cNvPr id="18" name="Shape 15"/>
          <p:cNvSpPr/>
          <p:nvPr/>
        </p:nvSpPr>
        <p:spPr>
          <a:xfrm>
            <a:off x="6583680" y="4069080"/>
            <a:ext cx="5029200" cy="1234440"/>
          </a:xfrm>
          <a:prstGeom prst="rect">
            <a:avLst/>
          </a:prstGeom>
          <a:solidFill>
            <a:srgbClr val="0F172A"/>
          </a:solidFill>
          <a:ln w="12700">
            <a:solidFill>
              <a:srgbClr val="0F172A"/>
            </a:solidFill>
            <a:prstDash val="solid"/>
          </a:ln>
        </p:spPr>
      </p:sp>
      <p:sp>
        <p:nvSpPr>
          <p:cNvPr id="19" name="Text 16"/>
          <p:cNvSpPr/>
          <p:nvPr/>
        </p:nvSpPr>
        <p:spPr>
          <a:xfrm>
            <a:off x="6720840" y="4160520"/>
            <a:ext cx="4754880" cy="105156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"level":"ERROR",</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"message":"Error procesando pago:</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La pasarela de pagos respondio timeout",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"mdc_request_id":"ef1851b4"</a:t>
            </a:r>
            <a:endParaRPr lang="en-US" sz="1100" dirty="0"/>
          </a:p>
        </p:txBody>
      </p:sp>
      <p:sp>
        <p:nvSpPr>
          <p:cNvPr id="20" name="Text 17"/>
          <p:cNvSpPr/>
          <p:nvPr/>
        </p:nvSpPr>
        <p:spPr>
          <a:xfrm>
            <a:off x="6583680" y="5440680"/>
            <a:ext cx="5029200" cy="548640"/>
          </a:xfrm>
          <a:prstGeom prst="rect">
            <a:avLst/>
          </a:prstGeom>
          <a:noFill/>
          <a:ln/>
        </p:spPr>
        <p:txBody>
          <a:bodyPr wrap="square" rtlCol="0" anchor="ctr"/>
          <a:lstStyle/>
          <a:p>
            <a:pPr indent="0" marL="0">
              <a:buNone/>
            </a:pPr>
            <a:r>
              <a:rPr lang="en-US" sz="1400" dirty="0">
                <a:solidFill>
                  <a:srgbClr val="111827"/>
                </a:solidFill>
                <a:latin typeface="Calibri" pitchFamily="34" charset="0"/>
                <a:ea typeface="Calibri" pitchFamily="34" charset="-122"/>
                <a:cs typeface="Calibri" pitchFamily="34" charset="-120"/>
              </a:rPr>
              <a:t>Loki: 9.511 INFO · 92 WARN (todos requests lentos de /pagos) · 213 ERROR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QUÉ MEDIR</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Dos métodos para no perderse: RED y USE</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645920"/>
            <a:ext cx="5394960" cy="3566160"/>
          </a:xfrm>
          <a:prstGeom prst="rect">
            <a:avLst/>
          </a:prstGeom>
          <a:solidFill>
            <a:srgbClr val="FFFFFF"/>
          </a:solidFill>
          <a:ln w="12700">
            <a:solidFill>
              <a:srgbClr val="D9DEE7"/>
            </a:solidFill>
            <a:prstDash val="solid"/>
          </a:ln>
        </p:spPr>
      </p:sp>
      <p:sp>
        <p:nvSpPr>
          <p:cNvPr id="7" name="Shape 5"/>
          <p:cNvSpPr/>
          <p:nvPr/>
        </p:nvSpPr>
        <p:spPr>
          <a:xfrm>
            <a:off x="548640" y="1645920"/>
            <a:ext cx="5394960" cy="73152"/>
          </a:xfrm>
          <a:prstGeom prst="rect">
            <a:avLst/>
          </a:prstGeom>
          <a:solidFill>
            <a:srgbClr val="F46800"/>
          </a:solidFill>
          <a:ln w="12700">
            <a:solidFill>
              <a:srgbClr val="F46800"/>
            </a:solidFill>
            <a:prstDash val="solid"/>
          </a:ln>
        </p:spPr>
      </p:sp>
      <p:sp>
        <p:nvSpPr>
          <p:cNvPr id="8" name="Text 6"/>
          <p:cNvSpPr/>
          <p:nvPr/>
        </p:nvSpPr>
        <p:spPr>
          <a:xfrm>
            <a:off x="731520" y="1828800"/>
            <a:ext cx="5029200" cy="457200"/>
          </a:xfrm>
          <a:prstGeom prst="rect">
            <a:avLst/>
          </a:prstGeom>
          <a:noFill/>
          <a:ln/>
        </p:spPr>
        <p:txBody>
          <a:bodyPr wrap="square" rtlCol="0" anchor="ctr"/>
          <a:lstStyle/>
          <a:p>
            <a:pPr indent="0" marL="0">
              <a:buNone/>
            </a:pPr>
            <a:r>
              <a:rPr lang="en-US" sz="2000" b="1" dirty="0">
                <a:solidFill>
                  <a:srgbClr val="F46800"/>
                </a:solidFill>
                <a:latin typeface="Calibri" pitchFamily="34" charset="0"/>
                <a:ea typeface="Calibri" pitchFamily="34" charset="-122"/>
                <a:cs typeface="Calibri" pitchFamily="34" charset="-120"/>
              </a:rPr>
              <a:t>RED · para servicios</a:t>
            </a:r>
            <a:endParaRPr lang="en-US" sz="2000" dirty="0"/>
          </a:p>
        </p:txBody>
      </p:sp>
      <p:sp>
        <p:nvSpPr>
          <p:cNvPr id="9" name="Text 7"/>
          <p:cNvSpPr/>
          <p:nvPr/>
        </p:nvSpPr>
        <p:spPr>
          <a:xfrm>
            <a:off x="731520" y="2331720"/>
            <a:ext cx="5029200" cy="274320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Rate: requests por segundo</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Errors: requests fallidos</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Duration: distribución de latencia (p50/p95/p99)</a:t>
            </a:r>
            <a:endParaRPr lang="en-US" sz="1800" dirty="0"/>
          </a:p>
          <a:p>
            <a:pPr indent="0" marL="0">
              <a:buNone/>
            </a:pP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Perspectiva del usuario. Tom Wilkie (Grafana Labs).</a:t>
            </a:r>
            <a:endParaRPr lang="en-US" sz="1800" dirty="0"/>
          </a:p>
        </p:txBody>
      </p:sp>
      <p:sp>
        <p:nvSpPr>
          <p:cNvPr id="10" name="Shape 8"/>
          <p:cNvSpPr/>
          <p:nvPr/>
        </p:nvSpPr>
        <p:spPr>
          <a:xfrm>
            <a:off x="6217920" y="1645920"/>
            <a:ext cx="5394960" cy="3566160"/>
          </a:xfrm>
          <a:prstGeom prst="rect">
            <a:avLst/>
          </a:prstGeom>
          <a:solidFill>
            <a:srgbClr val="FFFFFF"/>
          </a:solidFill>
          <a:ln w="12700">
            <a:solidFill>
              <a:srgbClr val="D9DEE7"/>
            </a:solidFill>
            <a:prstDash val="solid"/>
          </a:ln>
        </p:spPr>
      </p:sp>
      <p:sp>
        <p:nvSpPr>
          <p:cNvPr id="11" name="Shape 9"/>
          <p:cNvSpPr/>
          <p:nvPr/>
        </p:nvSpPr>
        <p:spPr>
          <a:xfrm>
            <a:off x="6217920" y="1645920"/>
            <a:ext cx="5394960" cy="73152"/>
          </a:xfrm>
          <a:prstGeom prst="rect">
            <a:avLst/>
          </a:prstGeom>
          <a:solidFill>
            <a:srgbClr val="2563EB"/>
          </a:solidFill>
          <a:ln w="12700">
            <a:solidFill>
              <a:srgbClr val="2563EB"/>
            </a:solidFill>
            <a:prstDash val="solid"/>
          </a:ln>
        </p:spPr>
      </p:sp>
      <p:sp>
        <p:nvSpPr>
          <p:cNvPr id="12" name="Text 10"/>
          <p:cNvSpPr/>
          <p:nvPr/>
        </p:nvSpPr>
        <p:spPr>
          <a:xfrm>
            <a:off x="6400800" y="1828800"/>
            <a:ext cx="5029200" cy="457200"/>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USE · para recursos</a:t>
            </a:r>
            <a:endParaRPr lang="en-US" sz="2000" dirty="0"/>
          </a:p>
        </p:txBody>
      </p:sp>
      <p:sp>
        <p:nvSpPr>
          <p:cNvPr id="13" name="Text 11"/>
          <p:cNvSpPr/>
          <p:nvPr/>
        </p:nvSpPr>
        <p:spPr>
          <a:xfrm>
            <a:off x="6400800" y="2331720"/>
            <a:ext cx="5029200" cy="2743200"/>
          </a:xfrm>
          <a:prstGeom prst="rect">
            <a:avLst/>
          </a:prstGeom>
          <a:noFill/>
          <a:ln/>
        </p:spPr>
        <p:txBody>
          <a:bodyPr wrap="square" rtlCol="0" anchor="t"/>
          <a:lstStyle/>
          <a:p>
            <a:pPr indent="0" marL="0">
              <a:buNone/>
            </a:pPr>
            <a:r>
              <a:rPr lang="en-US" sz="1800" dirty="0">
                <a:solidFill>
                  <a:srgbClr val="111827"/>
                </a:solidFill>
                <a:latin typeface="Calibri" pitchFamily="34" charset="0"/>
                <a:ea typeface="Calibri" pitchFamily="34" charset="-122"/>
                <a:cs typeface="Calibri" pitchFamily="34" charset="-120"/>
              </a:rPr>
              <a:t>Utilization: % de tiempo ocupado</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Saturation: trabajo en cola</a:t>
            </a: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Errors: errores del recurso</a:t>
            </a:r>
            <a:endParaRPr lang="en-US" sz="1800" dirty="0"/>
          </a:p>
          <a:p>
            <a:pPr indent="0" marL="0">
              <a:buNone/>
            </a:pPr>
            <a:endParaRPr lang="en-US" sz="1800" dirty="0"/>
          </a:p>
          <a:p>
            <a:pPr indent="0" marL="0">
              <a:buNone/>
            </a:pPr>
            <a:r>
              <a:rPr lang="en-US" sz="1800" dirty="0">
                <a:solidFill>
                  <a:srgbClr val="111827"/>
                </a:solidFill>
                <a:latin typeface="Calibri" pitchFamily="34" charset="0"/>
                <a:ea typeface="Calibri" pitchFamily="34" charset="-122"/>
                <a:cs typeface="Calibri" pitchFamily="34" charset="-120"/>
              </a:rPr>
              <a:t>CPU, memoria, hilos, pool de conexiones. Brendan Gregg.</a:t>
            </a:r>
            <a:endParaRPr lang="en-US" sz="1800" dirty="0"/>
          </a:p>
        </p:txBody>
      </p:sp>
      <p:sp>
        <p:nvSpPr>
          <p:cNvPr id="14" name="Text 12"/>
          <p:cNvSpPr/>
          <p:nvPr/>
        </p:nvSpPr>
        <p:spPr>
          <a:xfrm>
            <a:off x="548640" y="5394960"/>
            <a:ext cx="11064240" cy="914400"/>
          </a:xfrm>
          <a:prstGeom prst="rect">
            <a:avLst/>
          </a:prstGeom>
          <a:noFill/>
          <a:ln/>
        </p:spPr>
        <p:txBody>
          <a:bodyPr wrap="square"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En la demo: </a:t>
            </a:r>
            <a:pPr indent="0" marL="0">
              <a:buNone/>
            </a:pPr>
            <a:r>
              <a:rPr lang="en-US" sz="1600" dirty="0">
                <a:solidFill>
                  <a:srgbClr val="111827"/>
                </a:solidFill>
                <a:latin typeface="Calibri" pitchFamily="34" charset="0"/>
                <a:ea typeface="Calibri" pitchFamily="34" charset="-122"/>
                <a:cs typeface="Calibri" pitchFamily="34" charset="-120"/>
              </a:rPr>
              <a:t>RED marcó /pagos y /pedidos; USE mostró la JVM sana (heap ≤ 145 MiB de 5,6 GiB, máx. 5 de 50 hilos Tomcat, CPU &lt; 6%). </a:t>
            </a:r>
            <a:pPr indent="0" marL="0">
              <a:buNone/>
            </a:pPr>
            <a:r>
              <a:rPr lang="en-US" sz="1600" b="1" dirty="0">
                <a:solidFill>
                  <a:srgbClr val="DC2626"/>
                </a:solidFill>
                <a:latin typeface="Calibri" pitchFamily="34" charset="0"/>
                <a:ea typeface="Calibri" pitchFamily="34" charset="-122"/>
                <a:cs typeface="Calibri" pitchFamily="34" charset="-120"/>
              </a:rPr>
              <a:t>Conclusión: el cuello no es de capacidad, es de diseño y de dependencias. Escalar servidores no lo habría arreglado.</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LO QUE HARÍA UN EQUIPO SENIOR</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Buenas prácticas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673352"/>
            <a:ext cx="384048" cy="384048"/>
          </a:xfrm>
          <a:prstGeom prst="ellipse">
            <a:avLst/>
          </a:prstGeom>
          <a:solidFill>
            <a:srgbClr val="15803D"/>
          </a:solidFill>
          <a:ln w="12700">
            <a:solidFill>
              <a:srgbClr val="15803D"/>
            </a:solidFill>
            <a:prstDash val="solid"/>
          </a:ln>
        </p:spPr>
      </p:sp>
      <p:sp>
        <p:nvSpPr>
          <p:cNvPr id="7" name="Text 5"/>
          <p:cNvSpPr/>
          <p:nvPr/>
        </p:nvSpPr>
        <p:spPr>
          <a:xfrm>
            <a:off x="54864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160020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Logs estructurados (JSON) con contexto</a:t>
            </a:r>
            <a:endParaRPr lang="en-US" sz="1800" dirty="0"/>
          </a:p>
        </p:txBody>
      </p:sp>
      <p:sp>
        <p:nvSpPr>
          <p:cNvPr id="9" name="Text 7"/>
          <p:cNvSpPr/>
          <p:nvPr/>
        </p:nvSpPr>
        <p:spPr>
          <a:xfrm>
            <a:off x="1097280" y="205740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request_id, uri, duración, usuario anonimizado. Se consultan como datos.</a:t>
            </a:r>
            <a:endParaRPr lang="en-US" sz="1400" dirty="0"/>
          </a:p>
        </p:txBody>
      </p:sp>
      <p:sp>
        <p:nvSpPr>
          <p:cNvPr id="10" name="Shape 8"/>
          <p:cNvSpPr/>
          <p:nvPr/>
        </p:nvSpPr>
        <p:spPr>
          <a:xfrm>
            <a:off x="6217920" y="1673352"/>
            <a:ext cx="384048" cy="384048"/>
          </a:xfrm>
          <a:prstGeom prst="ellipse">
            <a:avLst/>
          </a:prstGeom>
          <a:solidFill>
            <a:srgbClr val="15803D"/>
          </a:solidFill>
          <a:ln w="12700">
            <a:solidFill>
              <a:srgbClr val="15803D"/>
            </a:solidFill>
            <a:prstDash val="solid"/>
          </a:ln>
        </p:spPr>
      </p:sp>
      <p:sp>
        <p:nvSpPr>
          <p:cNvPr id="11" name="Text 9"/>
          <p:cNvSpPr/>
          <p:nvPr/>
        </p:nvSpPr>
        <p:spPr>
          <a:xfrm>
            <a:off x="621792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6766560" y="160020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Percentiles e histogramas, no promedios</a:t>
            </a:r>
            <a:endParaRPr lang="en-US" sz="1800" dirty="0"/>
          </a:p>
        </p:txBody>
      </p:sp>
      <p:sp>
        <p:nvSpPr>
          <p:cNvPr id="13" name="Text 11"/>
          <p:cNvSpPr/>
          <p:nvPr/>
        </p:nvSpPr>
        <p:spPr>
          <a:xfrm>
            <a:off x="6766560" y="205740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Activa percentiles-histogram y define SLOs en p95 y p99.</a:t>
            </a:r>
            <a:endParaRPr lang="en-US" sz="1400" dirty="0"/>
          </a:p>
        </p:txBody>
      </p:sp>
      <p:sp>
        <p:nvSpPr>
          <p:cNvPr id="14" name="Shape 12"/>
          <p:cNvSpPr/>
          <p:nvPr/>
        </p:nvSpPr>
        <p:spPr>
          <a:xfrm>
            <a:off x="548640" y="3136392"/>
            <a:ext cx="384048" cy="384048"/>
          </a:xfrm>
          <a:prstGeom prst="ellipse">
            <a:avLst/>
          </a:prstGeom>
          <a:solidFill>
            <a:srgbClr val="15803D"/>
          </a:solidFill>
          <a:ln w="12700">
            <a:solidFill>
              <a:srgbClr val="15803D"/>
            </a:solidFill>
            <a:prstDash val="solid"/>
          </a:ln>
        </p:spPr>
      </p:sp>
      <p:sp>
        <p:nvSpPr>
          <p:cNvPr id="15" name="Text 13"/>
          <p:cNvSpPr/>
          <p:nvPr/>
        </p:nvSpPr>
        <p:spPr>
          <a:xfrm>
            <a:off x="548640" y="313639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097280" y="306324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Alertar por síntomas, investigar por causas</a:t>
            </a:r>
            <a:endParaRPr lang="en-US" sz="1800" dirty="0"/>
          </a:p>
        </p:txBody>
      </p:sp>
      <p:sp>
        <p:nvSpPr>
          <p:cNvPr id="17" name="Text 15"/>
          <p:cNvSpPr/>
          <p:nvPr/>
        </p:nvSpPr>
        <p:spPr>
          <a:xfrm>
            <a:off x="1097280" y="352044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Errores y latencia que ve el usuario; la CPU va al dashboard, no al pager.</a:t>
            </a:r>
            <a:endParaRPr lang="en-US" sz="1400" dirty="0"/>
          </a:p>
        </p:txBody>
      </p:sp>
      <p:sp>
        <p:nvSpPr>
          <p:cNvPr id="18" name="Shape 16"/>
          <p:cNvSpPr/>
          <p:nvPr/>
        </p:nvSpPr>
        <p:spPr>
          <a:xfrm>
            <a:off x="6217920" y="3136392"/>
            <a:ext cx="384048" cy="384048"/>
          </a:xfrm>
          <a:prstGeom prst="ellipse">
            <a:avLst/>
          </a:prstGeom>
          <a:solidFill>
            <a:srgbClr val="15803D"/>
          </a:solidFill>
          <a:ln w="12700">
            <a:solidFill>
              <a:srgbClr val="15803D"/>
            </a:solidFill>
            <a:prstDash val="solid"/>
          </a:ln>
        </p:spPr>
      </p:sp>
      <p:sp>
        <p:nvSpPr>
          <p:cNvPr id="19" name="Text 17"/>
          <p:cNvSpPr/>
          <p:nvPr/>
        </p:nvSpPr>
        <p:spPr>
          <a:xfrm>
            <a:off x="6217920" y="313639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6766560" y="306324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Etiquetas de baja cardinalidad</a:t>
            </a:r>
            <a:endParaRPr lang="en-US" sz="1800" dirty="0"/>
          </a:p>
        </p:txBody>
      </p:sp>
      <p:sp>
        <p:nvSpPr>
          <p:cNvPr id="21" name="Text 19"/>
          <p:cNvSpPr/>
          <p:nvPr/>
        </p:nvSpPr>
        <p:spPr>
          <a:xfrm>
            <a:off x="6766560" y="352044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uri como plantilla (/pedidos/{id}), nunca el id. En Loki: pocas etiquetas.</a:t>
            </a:r>
            <a:endParaRPr lang="en-US" sz="1400" dirty="0"/>
          </a:p>
        </p:txBody>
      </p:sp>
      <p:sp>
        <p:nvSpPr>
          <p:cNvPr id="22" name="Shape 20"/>
          <p:cNvSpPr/>
          <p:nvPr/>
        </p:nvSpPr>
        <p:spPr>
          <a:xfrm>
            <a:off x="548640" y="4599432"/>
            <a:ext cx="384048" cy="384048"/>
          </a:xfrm>
          <a:prstGeom prst="ellipse">
            <a:avLst/>
          </a:prstGeom>
          <a:solidFill>
            <a:srgbClr val="15803D"/>
          </a:solidFill>
          <a:ln w="12700">
            <a:solidFill>
              <a:srgbClr val="15803D"/>
            </a:solidFill>
            <a:prstDash val="solid"/>
          </a:ln>
        </p:spPr>
      </p:sp>
      <p:sp>
        <p:nvSpPr>
          <p:cNvPr id="23" name="Text 21"/>
          <p:cNvSpPr/>
          <p:nvPr/>
        </p:nvSpPr>
        <p:spPr>
          <a:xfrm>
            <a:off x="548640" y="459943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1097280" y="452628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Métricas de negocio</a:t>
            </a:r>
            <a:endParaRPr lang="en-US" sz="1800" dirty="0"/>
          </a:p>
        </p:txBody>
      </p:sp>
      <p:sp>
        <p:nvSpPr>
          <p:cNvPr id="25" name="Text 23"/>
          <p:cNvSpPr/>
          <p:nvPr/>
        </p:nvSpPr>
        <p:spPr>
          <a:xfrm>
            <a:off x="1097280" y="498348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pagos aprobados/fallidos, carritos abandonados: lo que le importa al negocio.</a:t>
            </a:r>
            <a:endParaRPr lang="en-US" sz="1400" dirty="0"/>
          </a:p>
        </p:txBody>
      </p:sp>
      <p:sp>
        <p:nvSpPr>
          <p:cNvPr id="26" name="Shape 24"/>
          <p:cNvSpPr/>
          <p:nvPr/>
        </p:nvSpPr>
        <p:spPr>
          <a:xfrm>
            <a:off x="6217920" y="4599432"/>
            <a:ext cx="384048" cy="384048"/>
          </a:xfrm>
          <a:prstGeom prst="ellipse">
            <a:avLst/>
          </a:prstGeom>
          <a:solidFill>
            <a:srgbClr val="15803D"/>
          </a:solidFill>
          <a:ln w="12700">
            <a:solidFill>
              <a:srgbClr val="15803D"/>
            </a:solidFill>
            <a:prstDash val="solid"/>
          </a:ln>
        </p:spPr>
      </p:sp>
      <p:sp>
        <p:nvSpPr>
          <p:cNvPr id="27" name="Text 25"/>
          <p:cNvSpPr/>
          <p:nvPr/>
        </p:nvSpPr>
        <p:spPr>
          <a:xfrm>
            <a:off x="6217920" y="459943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Text 26"/>
          <p:cNvSpPr/>
          <p:nvPr/>
        </p:nvSpPr>
        <p:spPr>
          <a:xfrm>
            <a:off x="6766560" y="452628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Observabilidad como código</a:t>
            </a:r>
            <a:endParaRPr lang="en-US" sz="1800" dirty="0"/>
          </a:p>
        </p:txBody>
      </p:sp>
      <p:sp>
        <p:nvSpPr>
          <p:cNvPr id="29" name="Text 27"/>
          <p:cNvSpPr/>
          <p:nvPr/>
        </p:nvSpPr>
        <p:spPr>
          <a:xfrm>
            <a:off x="6766560" y="498348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Dashboards, datasources y alertas versionados en Git (como esta demo).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LO QUE NO HAY QUE HACER</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Errores comunes (antipatrones)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673352"/>
            <a:ext cx="384048" cy="384048"/>
          </a:xfrm>
          <a:prstGeom prst="ellipse">
            <a:avLst/>
          </a:prstGeom>
          <a:solidFill>
            <a:srgbClr val="DC2626"/>
          </a:solidFill>
          <a:ln w="12700">
            <a:solidFill>
              <a:srgbClr val="DC2626"/>
            </a:solidFill>
            <a:prstDash val="solid"/>
          </a:ln>
        </p:spPr>
      </p:sp>
      <p:sp>
        <p:nvSpPr>
          <p:cNvPr id="7" name="Text 5"/>
          <p:cNvSpPr/>
          <p:nvPr/>
        </p:nvSpPr>
        <p:spPr>
          <a:xfrm>
            <a:off x="54864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097280" y="160020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Explosión de cardinalidad</a:t>
            </a:r>
            <a:endParaRPr lang="en-US" sz="1800" dirty="0"/>
          </a:p>
        </p:txBody>
      </p:sp>
      <p:sp>
        <p:nvSpPr>
          <p:cNvPr id="9" name="Text 7"/>
          <p:cNvSpPr/>
          <p:nvPr/>
        </p:nvSpPr>
        <p:spPr>
          <a:xfrm>
            <a:off x="1097280" y="205740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userId, requestId o email como etiqueta en Prometheus o Loki.</a:t>
            </a:r>
            <a:endParaRPr lang="en-US" sz="1400" dirty="0"/>
          </a:p>
        </p:txBody>
      </p:sp>
      <p:sp>
        <p:nvSpPr>
          <p:cNvPr id="10" name="Shape 8"/>
          <p:cNvSpPr/>
          <p:nvPr/>
        </p:nvSpPr>
        <p:spPr>
          <a:xfrm>
            <a:off x="6217920" y="1673352"/>
            <a:ext cx="384048" cy="384048"/>
          </a:xfrm>
          <a:prstGeom prst="ellipse">
            <a:avLst/>
          </a:prstGeom>
          <a:solidFill>
            <a:srgbClr val="DC2626"/>
          </a:solidFill>
          <a:ln w="12700">
            <a:solidFill>
              <a:srgbClr val="DC2626"/>
            </a:solidFill>
            <a:prstDash val="solid"/>
          </a:ln>
        </p:spPr>
      </p:sp>
      <p:sp>
        <p:nvSpPr>
          <p:cNvPr id="11" name="Text 9"/>
          <p:cNvSpPr/>
          <p:nvPr/>
        </p:nvSpPr>
        <p:spPr>
          <a:xfrm>
            <a:off x="621792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6766560" y="160020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Dashboards que nadie mira</a:t>
            </a:r>
            <a:endParaRPr lang="en-US" sz="1800" dirty="0"/>
          </a:p>
        </p:txBody>
      </p:sp>
      <p:sp>
        <p:nvSpPr>
          <p:cNvPr id="13" name="Text 11"/>
          <p:cNvSpPr/>
          <p:nvPr/>
        </p:nvSpPr>
        <p:spPr>
          <a:xfrm>
            <a:off x="6766560" y="205740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40 paneles sin pregunta detrás. Cada panel debe responder algo.</a:t>
            </a:r>
            <a:endParaRPr lang="en-US" sz="1400" dirty="0"/>
          </a:p>
        </p:txBody>
      </p:sp>
      <p:sp>
        <p:nvSpPr>
          <p:cNvPr id="14" name="Shape 12"/>
          <p:cNvSpPr/>
          <p:nvPr/>
        </p:nvSpPr>
        <p:spPr>
          <a:xfrm>
            <a:off x="548640" y="3136392"/>
            <a:ext cx="384048" cy="384048"/>
          </a:xfrm>
          <a:prstGeom prst="ellipse">
            <a:avLst/>
          </a:prstGeom>
          <a:solidFill>
            <a:srgbClr val="DC2626"/>
          </a:solidFill>
          <a:ln w="12700">
            <a:solidFill>
              <a:srgbClr val="DC2626"/>
            </a:solidFill>
            <a:prstDash val="solid"/>
          </a:ln>
        </p:spPr>
      </p:sp>
      <p:sp>
        <p:nvSpPr>
          <p:cNvPr id="15" name="Text 13"/>
          <p:cNvSpPr/>
          <p:nvPr/>
        </p:nvSpPr>
        <p:spPr>
          <a:xfrm>
            <a:off x="548640" y="313639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097280" y="306324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Fatiga de alertas</a:t>
            </a:r>
            <a:endParaRPr lang="en-US" sz="1800" dirty="0"/>
          </a:p>
        </p:txBody>
      </p:sp>
      <p:sp>
        <p:nvSpPr>
          <p:cNvPr id="17" name="Text 15"/>
          <p:cNvSpPr/>
          <p:nvPr/>
        </p:nvSpPr>
        <p:spPr>
          <a:xfrm>
            <a:off x="1097280" y="352044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Alertas sin acción clara → el equipo las silencia → se pierde la importante.</a:t>
            </a:r>
            <a:endParaRPr lang="en-US" sz="1400" dirty="0"/>
          </a:p>
        </p:txBody>
      </p:sp>
      <p:sp>
        <p:nvSpPr>
          <p:cNvPr id="18" name="Shape 16"/>
          <p:cNvSpPr/>
          <p:nvPr/>
        </p:nvSpPr>
        <p:spPr>
          <a:xfrm>
            <a:off x="6217920" y="3136392"/>
            <a:ext cx="384048" cy="384048"/>
          </a:xfrm>
          <a:prstGeom prst="ellipse">
            <a:avLst/>
          </a:prstGeom>
          <a:solidFill>
            <a:srgbClr val="DC2626"/>
          </a:solidFill>
          <a:ln w="12700">
            <a:solidFill>
              <a:srgbClr val="DC2626"/>
            </a:solidFill>
            <a:prstDash val="solid"/>
          </a:ln>
        </p:spPr>
      </p:sp>
      <p:sp>
        <p:nvSpPr>
          <p:cNvPr id="19" name="Text 17"/>
          <p:cNvSpPr/>
          <p:nvPr/>
        </p:nvSpPr>
        <p:spPr>
          <a:xfrm>
            <a:off x="6217920" y="313639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6766560" y="306324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Loguear todo (o nada)</a:t>
            </a:r>
            <a:endParaRPr lang="en-US" sz="1800" dirty="0"/>
          </a:p>
        </p:txBody>
      </p:sp>
      <p:sp>
        <p:nvSpPr>
          <p:cNvPr id="21" name="Text 19"/>
          <p:cNvSpPr/>
          <p:nvPr/>
        </p:nvSpPr>
        <p:spPr>
          <a:xfrm>
            <a:off x="6766560" y="352044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DEBUG en producción, datos personales o contraseñas en logs.</a:t>
            </a:r>
            <a:endParaRPr lang="en-US" sz="1400" dirty="0"/>
          </a:p>
        </p:txBody>
      </p:sp>
      <p:sp>
        <p:nvSpPr>
          <p:cNvPr id="22" name="Shape 20"/>
          <p:cNvSpPr/>
          <p:nvPr/>
        </p:nvSpPr>
        <p:spPr>
          <a:xfrm>
            <a:off x="548640" y="4599432"/>
            <a:ext cx="384048" cy="384048"/>
          </a:xfrm>
          <a:prstGeom prst="ellipse">
            <a:avLst/>
          </a:prstGeom>
          <a:solidFill>
            <a:srgbClr val="DC2626"/>
          </a:solidFill>
          <a:ln w="12700">
            <a:solidFill>
              <a:srgbClr val="DC2626"/>
            </a:solidFill>
            <a:prstDash val="solid"/>
          </a:ln>
        </p:spPr>
      </p:sp>
      <p:sp>
        <p:nvSpPr>
          <p:cNvPr id="23" name="Text 21"/>
          <p:cNvSpPr/>
          <p:nvPr/>
        </p:nvSpPr>
        <p:spPr>
          <a:xfrm>
            <a:off x="548640" y="459943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1097280" y="452628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Confiar en el promedio</a:t>
            </a:r>
            <a:endParaRPr lang="en-US" sz="1800" dirty="0"/>
          </a:p>
        </p:txBody>
      </p:sp>
      <p:sp>
        <p:nvSpPr>
          <p:cNvPr id="25" name="Text 23"/>
          <p:cNvSpPr/>
          <p:nvPr/>
        </p:nvSpPr>
        <p:spPr>
          <a:xfrm>
            <a:off x="1097280" y="498348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Oculta la cola: 103 ms de promedio con un p99 de 1.574 ms en la demo.</a:t>
            </a:r>
            <a:endParaRPr lang="en-US" sz="1400" dirty="0"/>
          </a:p>
        </p:txBody>
      </p:sp>
      <p:sp>
        <p:nvSpPr>
          <p:cNvPr id="26" name="Shape 24"/>
          <p:cNvSpPr/>
          <p:nvPr/>
        </p:nvSpPr>
        <p:spPr>
          <a:xfrm>
            <a:off x="6217920" y="4599432"/>
            <a:ext cx="384048" cy="384048"/>
          </a:xfrm>
          <a:prstGeom prst="ellipse">
            <a:avLst/>
          </a:prstGeom>
          <a:solidFill>
            <a:srgbClr val="DC2626"/>
          </a:solidFill>
          <a:ln w="12700">
            <a:solidFill>
              <a:srgbClr val="DC2626"/>
            </a:solidFill>
            <a:prstDash val="solid"/>
          </a:ln>
        </p:spPr>
      </p:sp>
      <p:sp>
        <p:nvSpPr>
          <p:cNvPr id="27" name="Text 25"/>
          <p:cNvSpPr/>
          <p:nvPr/>
        </p:nvSpPr>
        <p:spPr>
          <a:xfrm>
            <a:off x="6217920" y="459943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6766560" y="4526280"/>
            <a:ext cx="4846320" cy="45720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Instrumentar después del incidente</a:t>
            </a:r>
            <a:endParaRPr lang="en-US" sz="1800" dirty="0"/>
          </a:p>
        </p:txBody>
      </p:sp>
      <p:sp>
        <p:nvSpPr>
          <p:cNvPr id="29" name="Text 27"/>
          <p:cNvSpPr/>
          <p:nvPr/>
        </p:nvSpPr>
        <p:spPr>
          <a:xfrm>
            <a:off x="6766560" y="4983480"/>
            <a:ext cx="4846320" cy="822960"/>
          </a:xfrm>
          <a:prstGeom prst="rect">
            <a:avLst/>
          </a:prstGeom>
          <a:noFill/>
          <a:ln/>
        </p:spPr>
        <p:txBody>
          <a:bodyPr wrap="square" rtlCol="0" anchor="t"/>
          <a:lstStyle/>
          <a:p>
            <a:pPr indent="0" marL="0">
              <a:buNone/>
            </a:pPr>
            <a:r>
              <a:rPr lang="en-US" sz="1400" dirty="0">
                <a:solidFill>
                  <a:srgbClr val="5B6475"/>
                </a:solidFill>
                <a:latin typeface="Calibri" pitchFamily="34" charset="0"/>
                <a:ea typeface="Calibri" pitchFamily="34" charset="-122"/>
                <a:cs typeface="Calibri" pitchFamily="34" charset="-120"/>
              </a:rPr>
              <a:t>La telemetría que no existía cuando pasó, no sirve para explicarlo.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46800"/>
          </a:solidFill>
          <a:ln w="12700">
            <a:solidFill>
              <a:srgbClr val="F46800"/>
            </a:solidFill>
            <a:prstDash val="solid"/>
          </a:ln>
        </p:spPr>
      </p:sp>
      <p:sp>
        <p:nvSpPr>
          <p:cNvPr id="3" name="Text 1"/>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46800"/>
                </a:solidFill>
                <a:latin typeface="Calibri" pitchFamily="34" charset="0"/>
                <a:ea typeface="Calibri" pitchFamily="34" charset="-122"/>
                <a:cs typeface="Calibri" pitchFamily="34" charset="-120"/>
              </a:rPr>
              <a:t>20 MINUTOS · MANOS A LA OBRA</a:t>
            </a:r>
            <a:endParaRPr lang="en-US" sz="1200" dirty="0"/>
          </a:p>
        </p:txBody>
      </p:sp>
      <p:sp>
        <p:nvSpPr>
          <p:cNvPr id="4" name="Text 2"/>
          <p:cNvSpPr/>
          <p:nvPr/>
        </p:nvSpPr>
        <p:spPr>
          <a:xfrm>
            <a:off x="548640" y="640080"/>
            <a:ext cx="11064240" cy="822960"/>
          </a:xfrm>
          <a:prstGeom prst="rect">
            <a:avLst/>
          </a:prstGeom>
          <a:noFill/>
          <a:ln/>
        </p:spPr>
        <p:txBody>
          <a:bodyPr wrap="square" rtlCol="0" anchor="t"/>
          <a:lstStyle/>
          <a:p>
            <a:pPr indent="0" marL="0">
              <a:buNone/>
            </a:pPr>
            <a:r>
              <a:rPr lang="en-US" sz="3200" b="1" dirty="0">
                <a:solidFill>
                  <a:srgbClr val="111827"/>
                </a:solidFill>
                <a:latin typeface="Calibri" pitchFamily="34" charset="0"/>
                <a:ea typeface="Calibri" pitchFamily="34" charset="-122"/>
                <a:cs typeface="Calibri" pitchFamily="34" charset="-120"/>
              </a:rPr>
              <a:t>Taller guiado: ahora lo encuentran ustedes</a:t>
            </a:r>
            <a:endParaRPr lang="en-US" sz="3200" dirty="0"/>
          </a:p>
        </p:txBody>
      </p:sp>
      <p:sp>
        <p:nvSpPr>
          <p:cNvPr id="5" name="Text 3"/>
          <p:cNvSpPr/>
          <p:nvPr/>
        </p:nvSpPr>
        <p:spPr>
          <a:xfrm>
            <a:off x="11430000" y="6400800"/>
            <a:ext cx="548640" cy="274320"/>
          </a:xfrm>
          <a:prstGeom prst="rect">
            <a:avLst/>
          </a:prstGeom>
          <a:noFill/>
          <a:ln/>
        </p:spPr>
        <p:txBody>
          <a:bodyPr wrap="square"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691640"/>
            <a:ext cx="2633472" cy="3291840"/>
          </a:xfrm>
          <a:prstGeom prst="rect">
            <a:avLst/>
          </a:prstGeom>
          <a:solidFill>
            <a:srgbClr val="FFFFFF"/>
          </a:solidFill>
          <a:ln w="12700">
            <a:solidFill>
              <a:srgbClr val="D9DEE7"/>
            </a:solidFill>
            <a:prstDash val="solid"/>
          </a:ln>
        </p:spPr>
      </p:sp>
      <p:sp>
        <p:nvSpPr>
          <p:cNvPr id="7" name="Shape 5"/>
          <p:cNvSpPr/>
          <p:nvPr/>
        </p:nvSpPr>
        <p:spPr>
          <a:xfrm>
            <a:off x="548640" y="1691640"/>
            <a:ext cx="2633472" cy="73152"/>
          </a:xfrm>
          <a:prstGeom prst="rect">
            <a:avLst/>
          </a:prstGeom>
          <a:solidFill>
            <a:srgbClr val="5B6475"/>
          </a:solidFill>
          <a:ln w="12700">
            <a:solidFill>
              <a:srgbClr val="5B6475"/>
            </a:solidFill>
            <a:prstDash val="solid"/>
          </a:ln>
        </p:spPr>
      </p:sp>
      <p:sp>
        <p:nvSpPr>
          <p:cNvPr id="8" name="Text 6"/>
          <p:cNvSpPr/>
          <p:nvPr/>
        </p:nvSpPr>
        <p:spPr>
          <a:xfrm>
            <a:off x="731520" y="1874520"/>
            <a:ext cx="2286000" cy="365760"/>
          </a:xfrm>
          <a:prstGeom prst="rect">
            <a:avLst/>
          </a:prstGeom>
          <a:noFill/>
          <a:ln/>
        </p:spPr>
        <p:txBody>
          <a:bodyPr wrap="square" rtlCol="0" anchor="ctr"/>
          <a:lstStyle/>
          <a:p>
            <a:pPr indent="0" marL="0">
              <a:buNone/>
            </a:pPr>
            <a:r>
              <a:rPr lang="en-US" sz="1400" b="1" dirty="0">
                <a:solidFill>
                  <a:srgbClr val="5B6475"/>
                </a:solidFill>
                <a:latin typeface="Calibri" pitchFamily="34" charset="0"/>
                <a:ea typeface="Calibri" pitchFamily="34" charset="-122"/>
                <a:cs typeface="Calibri" pitchFamily="34" charset="-120"/>
              </a:rPr>
              <a:t>0-4 min</a:t>
            </a:r>
            <a:endParaRPr lang="en-US" sz="1400" dirty="0"/>
          </a:p>
        </p:txBody>
      </p:sp>
      <p:sp>
        <p:nvSpPr>
          <p:cNvPr id="9" name="Text 7"/>
          <p:cNvSpPr/>
          <p:nvPr/>
        </p:nvSpPr>
        <p:spPr>
          <a:xfrm>
            <a:off x="731520" y="2240280"/>
            <a:ext cx="2286000" cy="548640"/>
          </a:xfrm>
          <a:prstGeom prst="rect">
            <a:avLst/>
          </a:prstGeom>
          <a:noFill/>
          <a:ln/>
        </p:spPr>
        <p:txBody>
          <a:bodyPr wrap="square"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Levantar</a:t>
            </a:r>
            <a:endParaRPr lang="en-US" sz="2400" dirty="0"/>
          </a:p>
        </p:txBody>
      </p:sp>
      <p:sp>
        <p:nvSpPr>
          <p:cNvPr id="10" name="Text 8"/>
          <p:cNvSpPr/>
          <p:nvPr/>
        </p:nvSpPr>
        <p:spPr>
          <a:xfrm>
            <a:off x="731520" y="2880360"/>
            <a:ext cx="2286000" cy="2011680"/>
          </a:xfrm>
          <a:prstGeom prst="rect">
            <a:avLst/>
          </a:prstGeom>
          <a:noFill/>
          <a:ln/>
        </p:spPr>
        <p:txBody>
          <a:bodyPr wrap="square" rtlCol="0" anchor="t"/>
          <a:lstStyle/>
          <a:p>
            <a:pPr indent="0" marL="0">
              <a:buNone/>
            </a:pPr>
            <a:r>
              <a:rPr lang="en-US" sz="1500" dirty="0">
                <a:solidFill>
                  <a:srgbClr val="111827"/>
                </a:solidFill>
                <a:latin typeface="Calibri" pitchFamily="34" charset="0"/>
                <a:ea typeface="Calibri" pitchFamily="34" charset="-122"/>
                <a:cs typeface="Calibri" pitchFamily="34" charset="-120"/>
              </a:rPr>
              <a:t>Codespace (o Docker local) y un solo comando: docker compose up</a:t>
            </a:r>
            <a:endParaRPr lang="en-US" sz="1500" dirty="0"/>
          </a:p>
        </p:txBody>
      </p:sp>
      <p:sp>
        <p:nvSpPr>
          <p:cNvPr id="11" name="Shape 9"/>
          <p:cNvSpPr/>
          <p:nvPr/>
        </p:nvSpPr>
        <p:spPr>
          <a:xfrm>
            <a:off x="3364992" y="1691640"/>
            <a:ext cx="2633472" cy="3291840"/>
          </a:xfrm>
          <a:prstGeom prst="rect">
            <a:avLst/>
          </a:prstGeom>
          <a:solidFill>
            <a:srgbClr val="FFFFFF"/>
          </a:solidFill>
          <a:ln w="12700">
            <a:solidFill>
              <a:srgbClr val="D9DEE7"/>
            </a:solidFill>
            <a:prstDash val="solid"/>
          </a:ln>
        </p:spPr>
      </p:sp>
      <p:sp>
        <p:nvSpPr>
          <p:cNvPr id="12" name="Shape 10"/>
          <p:cNvSpPr/>
          <p:nvPr/>
        </p:nvSpPr>
        <p:spPr>
          <a:xfrm>
            <a:off x="3364992" y="1691640"/>
            <a:ext cx="2633472" cy="73152"/>
          </a:xfrm>
          <a:prstGeom prst="rect">
            <a:avLst/>
          </a:prstGeom>
          <a:solidFill>
            <a:srgbClr val="2563EB"/>
          </a:solidFill>
          <a:ln w="12700">
            <a:solidFill>
              <a:srgbClr val="2563EB"/>
            </a:solidFill>
            <a:prstDash val="solid"/>
          </a:ln>
        </p:spPr>
      </p:sp>
      <p:sp>
        <p:nvSpPr>
          <p:cNvPr id="13" name="Text 11"/>
          <p:cNvSpPr/>
          <p:nvPr/>
        </p:nvSpPr>
        <p:spPr>
          <a:xfrm>
            <a:off x="3547872" y="1874520"/>
            <a:ext cx="2286000" cy="365760"/>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4-6 min</a:t>
            </a:r>
            <a:endParaRPr lang="en-US" sz="1400" dirty="0"/>
          </a:p>
        </p:txBody>
      </p:sp>
      <p:sp>
        <p:nvSpPr>
          <p:cNvPr id="14" name="Text 12"/>
          <p:cNvSpPr/>
          <p:nvPr/>
        </p:nvSpPr>
        <p:spPr>
          <a:xfrm>
            <a:off x="3547872" y="2240280"/>
            <a:ext cx="2286000" cy="548640"/>
          </a:xfrm>
          <a:prstGeom prst="rect">
            <a:avLst/>
          </a:prstGeom>
          <a:noFill/>
          <a:ln/>
        </p:spPr>
        <p:txBody>
          <a:bodyPr wrap="square"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Carga</a:t>
            </a:r>
            <a:endParaRPr lang="en-US" sz="2400" dirty="0"/>
          </a:p>
        </p:txBody>
      </p:sp>
      <p:sp>
        <p:nvSpPr>
          <p:cNvPr id="15" name="Text 13"/>
          <p:cNvSpPr/>
          <p:nvPr/>
        </p:nvSpPr>
        <p:spPr>
          <a:xfrm>
            <a:off x="3547872" y="2880360"/>
            <a:ext cx="2286000" cy="2011680"/>
          </a:xfrm>
          <a:prstGeom prst="rect">
            <a:avLst/>
          </a:prstGeom>
          <a:noFill/>
          <a:ln/>
        </p:spPr>
        <p:txBody>
          <a:bodyPr wrap="square" rtlCol="0" anchor="t"/>
          <a:lstStyle/>
          <a:p>
            <a:pPr indent="0" marL="0">
              <a:buNone/>
            </a:pPr>
            <a:r>
              <a:rPr lang="en-US" sz="1500" dirty="0">
                <a:solidFill>
                  <a:srgbClr val="111827"/>
                </a:solidFill>
                <a:latin typeface="Calibri" pitchFamily="34" charset="0"/>
                <a:ea typeface="Calibri" pitchFamily="34" charset="-122"/>
                <a:cs typeface="Calibri" pitchFamily="34" charset="-120"/>
              </a:rPr>
              <a:t>k6 genera tráfico 6 min mientras exploran</a:t>
            </a:r>
            <a:endParaRPr lang="en-US" sz="1500" dirty="0"/>
          </a:p>
        </p:txBody>
      </p:sp>
      <p:sp>
        <p:nvSpPr>
          <p:cNvPr id="16" name="Shape 14"/>
          <p:cNvSpPr/>
          <p:nvPr/>
        </p:nvSpPr>
        <p:spPr>
          <a:xfrm>
            <a:off x="6181344" y="1691640"/>
            <a:ext cx="2633472" cy="3291840"/>
          </a:xfrm>
          <a:prstGeom prst="rect">
            <a:avLst/>
          </a:prstGeom>
          <a:solidFill>
            <a:srgbClr val="FFFFFF"/>
          </a:solidFill>
          <a:ln w="12700">
            <a:solidFill>
              <a:srgbClr val="D9DEE7"/>
            </a:solidFill>
            <a:prstDash val="solid"/>
          </a:ln>
        </p:spPr>
      </p:sp>
      <p:sp>
        <p:nvSpPr>
          <p:cNvPr id="17" name="Shape 15"/>
          <p:cNvSpPr/>
          <p:nvPr/>
        </p:nvSpPr>
        <p:spPr>
          <a:xfrm>
            <a:off x="6181344" y="1691640"/>
            <a:ext cx="2633472" cy="73152"/>
          </a:xfrm>
          <a:prstGeom prst="rect">
            <a:avLst/>
          </a:prstGeom>
          <a:solidFill>
            <a:srgbClr val="F46800"/>
          </a:solidFill>
          <a:ln w="12700">
            <a:solidFill>
              <a:srgbClr val="F46800"/>
            </a:solidFill>
            <a:prstDash val="solid"/>
          </a:ln>
        </p:spPr>
      </p:sp>
      <p:sp>
        <p:nvSpPr>
          <p:cNvPr id="18" name="Text 16"/>
          <p:cNvSpPr/>
          <p:nvPr/>
        </p:nvSpPr>
        <p:spPr>
          <a:xfrm>
            <a:off x="6364224" y="1874520"/>
            <a:ext cx="2286000" cy="365760"/>
          </a:xfrm>
          <a:prstGeom prst="rect">
            <a:avLst/>
          </a:prstGeom>
          <a:noFill/>
          <a:ln/>
        </p:spPr>
        <p:txBody>
          <a:bodyPr wrap="square" rtlCol="0" anchor="ctr"/>
          <a:lstStyle/>
          <a:p>
            <a:pPr indent="0" marL="0">
              <a:buNone/>
            </a:pPr>
            <a:r>
              <a:rPr lang="en-US" sz="1400" b="1" dirty="0">
                <a:solidFill>
                  <a:srgbClr val="F46800"/>
                </a:solidFill>
                <a:latin typeface="Calibri" pitchFamily="34" charset="0"/>
                <a:ea typeface="Calibri" pitchFamily="34" charset="-122"/>
                <a:cs typeface="Calibri" pitchFamily="34" charset="-120"/>
              </a:rPr>
              <a:t>6-16 min</a:t>
            </a:r>
            <a:endParaRPr lang="en-US" sz="1400" dirty="0"/>
          </a:p>
        </p:txBody>
      </p:sp>
      <p:sp>
        <p:nvSpPr>
          <p:cNvPr id="19" name="Text 17"/>
          <p:cNvSpPr/>
          <p:nvPr/>
        </p:nvSpPr>
        <p:spPr>
          <a:xfrm>
            <a:off x="6364224" y="2240280"/>
            <a:ext cx="2286000" cy="548640"/>
          </a:xfrm>
          <a:prstGeom prst="rect">
            <a:avLst/>
          </a:prstGeom>
          <a:noFill/>
          <a:ln/>
        </p:spPr>
        <p:txBody>
          <a:bodyPr wrap="square"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3 misiones</a:t>
            </a:r>
            <a:endParaRPr lang="en-US" sz="2400" dirty="0"/>
          </a:p>
        </p:txBody>
      </p:sp>
      <p:sp>
        <p:nvSpPr>
          <p:cNvPr id="20" name="Text 18"/>
          <p:cNvSpPr/>
          <p:nvPr/>
        </p:nvSpPr>
        <p:spPr>
          <a:xfrm>
            <a:off x="6364224" y="2880360"/>
            <a:ext cx="2286000" cy="2011680"/>
          </a:xfrm>
          <a:prstGeom prst="rect">
            <a:avLst/>
          </a:prstGeom>
          <a:noFill/>
          <a:ln/>
        </p:spPr>
        <p:txBody>
          <a:bodyPr wrap="square" rtlCol="0" anchor="t"/>
          <a:lstStyle/>
          <a:p>
            <a:pPr indent="0" marL="0">
              <a:buNone/>
            </a:pPr>
            <a:r>
              <a:rPr lang="en-US" sz="1500" dirty="0">
                <a:solidFill>
                  <a:srgbClr val="111827"/>
                </a:solidFill>
                <a:latin typeface="Calibri" pitchFamily="34" charset="0"/>
                <a:ea typeface="Calibri" pitchFamily="34" charset="-122"/>
                <a:cs typeface="Calibri" pitchFamily="34" charset="-120"/>
              </a:rPr>
              <a:t>1. La cola de latencia (PromQL)</a:t>
            </a:r>
            <a:endParaRPr lang="en-US" sz="1500" dirty="0"/>
          </a:p>
          <a:p>
            <a:pPr indent="0" marL="0">
              <a:buNone/>
            </a:pPr>
            <a:r>
              <a:rPr lang="en-US" sz="1500" dirty="0">
                <a:solidFill>
                  <a:srgbClr val="111827"/>
                </a:solidFill>
                <a:latin typeface="Calibri" pitchFamily="34" charset="0"/>
                <a:ea typeface="Calibri" pitchFamily="34" charset="-122"/>
                <a:cs typeface="Calibri" pitchFamily="34" charset="-120"/>
              </a:rPr>
              <a:t>2. Cazar el N+1 (métrica + LogQL)</a:t>
            </a:r>
            <a:endParaRPr lang="en-US" sz="1500" dirty="0"/>
          </a:p>
          <a:p>
            <a:pPr indent="0" marL="0">
              <a:buNone/>
            </a:pPr>
            <a:r>
              <a:rPr lang="en-US" sz="1500" dirty="0">
                <a:solidFill>
                  <a:srgbClr val="111827"/>
                </a:solidFill>
                <a:latin typeface="Calibri" pitchFamily="34" charset="0"/>
                <a:ea typeface="Calibri" pitchFamily="34" charset="-122"/>
                <a:cs typeface="Calibri" pitchFamily="34" charset="-120"/>
              </a:rPr>
              <a:t>3. Del error al request_id (alerta + logs)</a:t>
            </a:r>
            <a:endParaRPr lang="en-US" sz="1500" dirty="0"/>
          </a:p>
        </p:txBody>
      </p:sp>
      <p:sp>
        <p:nvSpPr>
          <p:cNvPr id="21" name="Shape 19"/>
          <p:cNvSpPr/>
          <p:nvPr/>
        </p:nvSpPr>
        <p:spPr>
          <a:xfrm>
            <a:off x="8997696" y="1691640"/>
            <a:ext cx="2633472" cy="3291840"/>
          </a:xfrm>
          <a:prstGeom prst="rect">
            <a:avLst/>
          </a:prstGeom>
          <a:solidFill>
            <a:srgbClr val="FFFFFF"/>
          </a:solidFill>
          <a:ln w="12700">
            <a:solidFill>
              <a:srgbClr val="D9DEE7"/>
            </a:solidFill>
            <a:prstDash val="solid"/>
          </a:ln>
        </p:spPr>
      </p:sp>
      <p:sp>
        <p:nvSpPr>
          <p:cNvPr id="22" name="Shape 20"/>
          <p:cNvSpPr/>
          <p:nvPr/>
        </p:nvSpPr>
        <p:spPr>
          <a:xfrm>
            <a:off x="8997696" y="1691640"/>
            <a:ext cx="2633472" cy="73152"/>
          </a:xfrm>
          <a:prstGeom prst="rect">
            <a:avLst/>
          </a:prstGeom>
          <a:solidFill>
            <a:srgbClr val="15803D"/>
          </a:solidFill>
          <a:ln w="12700">
            <a:solidFill>
              <a:srgbClr val="15803D"/>
            </a:solidFill>
            <a:prstDash val="solid"/>
          </a:ln>
        </p:spPr>
      </p:sp>
      <p:sp>
        <p:nvSpPr>
          <p:cNvPr id="23" name="Text 21"/>
          <p:cNvSpPr/>
          <p:nvPr/>
        </p:nvSpPr>
        <p:spPr>
          <a:xfrm>
            <a:off x="9180576" y="1874520"/>
            <a:ext cx="2286000" cy="365760"/>
          </a:xfrm>
          <a:prstGeom prst="rect">
            <a:avLst/>
          </a:prstGeom>
          <a:noFill/>
          <a:ln/>
        </p:spPr>
        <p:txBody>
          <a:bodyPr wrap="square" rtlCol="0" anchor="ctr"/>
          <a:lstStyle/>
          <a:p>
            <a:pPr indent="0" marL="0">
              <a:buNone/>
            </a:pPr>
            <a:r>
              <a:rPr lang="en-US" sz="1400" b="1" dirty="0">
                <a:solidFill>
                  <a:srgbClr val="15803D"/>
                </a:solidFill>
                <a:latin typeface="Calibri" pitchFamily="34" charset="0"/>
                <a:ea typeface="Calibri" pitchFamily="34" charset="-122"/>
                <a:cs typeface="Calibri" pitchFamily="34" charset="-120"/>
              </a:rPr>
              <a:t>16-20 min</a:t>
            </a:r>
            <a:endParaRPr lang="en-US" sz="1400" dirty="0"/>
          </a:p>
        </p:txBody>
      </p:sp>
      <p:sp>
        <p:nvSpPr>
          <p:cNvPr id="24" name="Text 22"/>
          <p:cNvSpPr/>
          <p:nvPr/>
        </p:nvSpPr>
        <p:spPr>
          <a:xfrm>
            <a:off x="9180576" y="2240280"/>
            <a:ext cx="2286000" cy="548640"/>
          </a:xfrm>
          <a:prstGeom prst="rect">
            <a:avLst/>
          </a:prstGeom>
          <a:noFill/>
          <a:ln/>
        </p:spPr>
        <p:txBody>
          <a:bodyPr wrap="square"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Reto</a:t>
            </a:r>
            <a:endParaRPr lang="en-US" sz="2400" dirty="0"/>
          </a:p>
        </p:txBody>
      </p:sp>
      <p:sp>
        <p:nvSpPr>
          <p:cNvPr id="25" name="Text 23"/>
          <p:cNvSpPr/>
          <p:nvPr/>
        </p:nvSpPr>
        <p:spPr>
          <a:xfrm>
            <a:off x="9180576" y="2880360"/>
            <a:ext cx="2286000" cy="2011680"/>
          </a:xfrm>
          <a:prstGeom prst="rect">
            <a:avLst/>
          </a:prstGeom>
          <a:noFill/>
          <a:ln/>
        </p:spPr>
        <p:txBody>
          <a:bodyPr wrap="square" rtlCol="0" anchor="t"/>
          <a:lstStyle/>
          <a:p>
            <a:pPr indent="0" marL="0">
              <a:buNone/>
            </a:pPr>
            <a:r>
              <a:rPr lang="en-US" sz="1500" dirty="0">
                <a:solidFill>
                  <a:srgbClr val="111827"/>
                </a:solidFill>
                <a:latin typeface="Calibri" pitchFamily="34" charset="0"/>
                <a:ea typeface="Calibri" pitchFamily="34" charset="-122"/>
                <a:cs typeface="Calibri" pitchFamily="34" charset="-120"/>
              </a:rPr>
              <a:t>Crear una alerta de p99 &gt; 1 s y verla disparar</a:t>
            </a:r>
            <a:endParaRPr lang="en-US" sz="1500" dirty="0"/>
          </a:p>
        </p:txBody>
      </p:sp>
      <p:sp>
        <p:nvSpPr>
          <p:cNvPr id="26" name="Text 24"/>
          <p:cNvSpPr/>
          <p:nvPr/>
        </p:nvSpPr>
        <p:spPr>
          <a:xfrm>
            <a:off x="548640" y="5257800"/>
            <a:ext cx="11064240" cy="548640"/>
          </a:xfrm>
          <a:prstGeom prst="rect">
            <a:avLst/>
          </a:prstGeom>
          <a:noFill/>
          <a:ln/>
        </p:spPr>
        <p:txBody>
          <a:bodyPr wrap="square"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Guía paso a paso: </a:t>
            </a:r>
            <a:pPr indent="0" marL="0">
              <a:buNone/>
            </a:pPr>
            <a:r>
              <a:rPr lang="en-US" sz="1700" dirty="0">
                <a:solidFill>
                  <a:srgbClr val="111827"/>
                </a:solidFill>
                <a:latin typeface="Calibri" pitchFamily="34" charset="0"/>
                <a:ea typeface="Calibri" pitchFamily="34" charset="-122"/>
                <a:cs typeface="Calibri" pitchFamily="34" charset="-120"/>
              </a:rPr>
              <a:t>observabilidad-demo/TALLER.md (también en PDF). Nada que instalar: abren un GitHub Codespace desde el navegador.</a:t>
            </a:r>
            <a:endParaRPr lang="en-US" sz="1700" dirty="0"/>
          </a:p>
        </p:txBody>
      </p:sp>
      <p:sp>
        <p:nvSpPr>
          <p:cNvPr id="27" name="Text 25"/>
          <p:cNvSpPr/>
          <p:nvPr/>
        </p:nvSpPr>
        <p:spPr>
          <a:xfrm>
            <a:off x="548640" y="5806440"/>
            <a:ext cx="11064240" cy="411480"/>
          </a:xfrm>
          <a:prstGeom prst="rect">
            <a:avLst/>
          </a:prstGeom>
          <a:noFill/>
          <a:ln/>
        </p:spPr>
        <p:txBody>
          <a:bodyPr wrap="square" rtlCol="0" anchor="ctr"/>
          <a:lstStyle/>
          <a:p>
            <a:pPr indent="0" marL="0">
              <a:buNone/>
            </a:pPr>
            <a:r>
              <a:rPr lang="en-US" sz="1500" i="1" dirty="0">
                <a:solidFill>
                  <a:srgbClr val="5B6475"/>
                </a:solidFill>
                <a:latin typeface="Calibri" pitchFamily="34" charset="0"/>
                <a:ea typeface="Calibri" pitchFamily="34" charset="-122"/>
                <a:cs typeface="Calibri" pitchFamily="34" charset="-120"/>
              </a:rPr>
              <a:t>Al final: preguntas y comparamos sus números con los de esta presentación.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Observabilidad en Spring Boot con Prometheus, Loki y Grafana</dc:title>
  <dc:subject>PptxGenJS Presentation</dc:subject>
  <dc:creator>Juan Tobón</dc:creator>
  <cp:lastModifiedBy>Juan Tobón</cp:lastModifiedBy>
  <cp:revision>1</cp:revision>
  <dcterms:created xsi:type="dcterms:W3CDTF">2026-10-12T18:57:53Z</dcterms:created>
  <dcterms:modified xsi:type="dcterms:W3CDTF">2026-10-12T18:57:53Z</dcterms:modified>
</cp:coreProperties>
</file>