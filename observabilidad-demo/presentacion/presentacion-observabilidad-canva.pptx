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eo Tech Bold" charset="1" panose="020B0804030504040204"/>
      <p:regular r:id="rId25"/>
    </p:embeddedFont>
    <p:embeddedFont>
      <p:font typeface="Koho Bold" charset="1" panose="00000800000000000000"/>
      <p:regular r:id="rId26"/>
    </p:embeddedFont>
    <p:embeddedFont>
      <p:font typeface="Koho" charset="1" panose="00000500000000000000"/>
      <p:regular r:id="rId28"/>
    </p:embeddedFont>
    <p:embeddedFont>
      <p:font typeface="Arimo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Formato: 40 minutos. Unos 20 de explicación (slides 1 a 15) y 20 de taller guiado con la guía TALLER.md.</a:t>
            </a:r>
          </a:p>
          <a:p>
            <a:r>
              <a:rPr lang="en-US"/>
              <a:t>Abrir con una pregunta: «¿Cuántos han tenido una app que funciona en local pero en producción a veces es lenta?». Casi todos levantan la mano.</a:t>
            </a:r>
          </a:p>
          <a:p>
            <a:r>
              <a:rPr lang="en-US"/>
              <a:t>Mensaje central: observabilidad no es tener dashboards bonitos, es poder responder preguntas nuevas sobre el sistema sin desplegar código nuevo.</a:t>
            </a:r>
          </a:p>
          <a:p>
            <a:r>
              <a:rPr lang="en-US"/>
              <a:t>Todo lo que van a ver en números (latencias, errores, consultas SQL) salió de una demo real: una API Spring Boot con Prometheus, Loki y Grafana en Docker, bajo 9.603 requests de carga generada con k6.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Observabilidad es una propiedad del sistema, no una herramienta. Prometheus o Grafana no «son» observabilidad; ayudan a lograrla.</a:t>
            </a:r>
          </a:p>
          <a:p>
            <a:r>
              <a:rPr lang="en-US"/>
              <a:t>El origen es teoría de control: Rudolf Kalman definió que un sistema es observable si a partir de sus salidas puedes reconstruir su estado interno.</a:t>
            </a:r>
          </a:p>
          <a:p>
            <a:r>
              <a:rPr lang="en-US"/>
              <a:t>En software, las salidas son la telemetría. La pregunta clave: ¿puedo explicar un comportamiento raro con la telemetría que ya tengo?</a:t>
            </a:r>
          </a:p>
          <a:p>
            <a:r>
              <a:rPr lang="en-US"/>
              <a:t>Ejemplo para el público: «el checkout está lento solo para usuarios de Bogotá con tarjeta Visa desde el deploy de ayer». Si para responder eso hay que agregar un log y redesplegar, el sistema no es observable.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Monitoreo responde preguntas que ya sabías que debías hacer: ¿el servicio responde?, ¿la CPU pasó del 80%? Son «known unknowns».</a:t>
            </a:r>
          </a:p>
          <a:p>
            <a:r>
              <a:rPr lang="en-US"/>
              <a:t>Observabilidad sirve para lo que no anticipaste: «unknown unknowns». En sistemas distribuidos la mayoría de incidentes son de este tipo.</a:t>
            </a:r>
          </a:p>
          <a:p>
            <a:r>
              <a:rPr lang="en-US"/>
              <a:t>No compiten: el monitoreo (las alertas) es la puerta de entrada y la observabilidad es lo que usas para investigar después de que suena la alerta.</a:t>
            </a:r>
          </a:p>
          <a:p>
            <a:r>
              <a:rPr lang="en-US"/>
              <a:t>En la demo lo van a ver: una alerta de Prometheus nos dice QUE hay errores en /api/pagos; los logs en Loki nos dicen POR QUÉ (timeout de la pasarela).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todo necesita la pila completa. Regla práctica: cuanto más distribuido es el sistema y más dependencias externas tiene, más falta hace.</a:t>
            </a:r>
          </a:p>
          <a:p>
            <a:r>
              <a:rPr lang="en-US"/>
              <a:t>Si tienes un SLO, por ejemplo «el 99% de los pagos en menos de 500 ms», necesitas medirlo: sin observabilidad un SLO es un deseo.</a:t>
            </a:r>
          </a:p>
          <a:p>
            <a:r>
              <a:rPr lang="en-US"/>
              <a:t>Con mesura: en un prototipo, Spring Boot Actuator más logs en JSON ya dan el 80% del valor con 5 minutos de configuración.</a:t>
            </a:r>
          </a:p>
          <a:p>
            <a:r>
              <a:rPr lang="en-US"/>
              <a:t>La telemetría tiene costo: Loki y Prometheus cobran (en dinero o en disco) por cada etiqueta y cada línea. Volvemos sobre esto en errores comunes.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Métricas: series de tiempo numéricas. Son baratas porque se agregan: un contador de requests no crece con el tráfico. Sirven para dashboards y alertas. En la demo: Micrometer → Prometheus.</a:t>
            </a:r>
          </a:p>
          <a:p>
            <a:r>
              <a:rPr lang="en-US"/>
              <a:t>Logs: un evento por cosa que pasa. Dan el detalle (qué request_id, qué mensaje de error) pero cuestan más. La clave es que sean estructurados (JSON) para filtrarlos como datos y no como texto. En la demo: Logback en JSON → Loki.</a:t>
            </a:r>
          </a:p>
          <a:p>
            <a:r>
              <a:rPr lang="en-US"/>
              <a:t>Trazas: siguen un request por varios servicios con spans. La demo tiene un solo servicio, así que no las incluimos; el siguiente paso natural es Micrometer Tracing con OpenTelemetry y Grafana Tempo.</a:t>
            </a:r>
          </a:p>
          <a:p>
            <a:r>
              <a:rPr lang="en-US"/>
              <a:t>Lo importante: no son silos. El valor está en correlacionarlos: una métrica te lleva al log y el log a la traza.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Recorrer el diagrama de izquierda a derecha.</a:t>
            </a:r>
          </a:p>
          <a:p>
            <a:r>
              <a:rPr lang="en-US"/>
              <a:t>k6 genera tráfico constante contra la API (unos 40 requests por segundo).</a:t>
            </a:r>
          </a:p>
          <a:p>
            <a:r>
              <a:rPr lang="en-US"/>
              <a:t>La API expone métricas en /actuator/prometheus gracias a Actuator y Micrometer. Prometheus funciona por PULL: es él quien va cada 5 segundos a «raspar» el endpoint. Ventaja: si la app muere, Prometheus lo nota porque el scrape falla (métrica up).</a:t>
            </a:r>
          </a:p>
          <a:p>
            <a:r>
              <a:rPr lang="en-US"/>
              <a:t>Detalle de configuración importante: por defecto Micrometer no publica buckets de histograma; sin percentiles-histogram: true no se puede calcular el p95 en Prometheus.</a:t>
            </a:r>
          </a:p>
          <a:p>
            <a:r>
              <a:rPr lang="en-US"/>
              <a:t>Los logs van por PUSH: el appender Loki4j de Logback agrupa líneas JSON y las envía por HTTP a Loki. Loki es «Prometheus para logs»: solo indexa las etiquetas (app, level), por eso es barato y por eso hay que tener pocas etiquetas.</a:t>
            </a:r>
          </a:p>
          <a:p>
            <a:r>
              <a:rPr lang="en-US"/>
              <a:t>Grafana no almacena nada: consulta a Prometheus con PromQL y a Loki con LogQL. Datasources y dashboard se provisionan como código.</a:t>
            </a:r>
          </a:p>
          <a:p>
            <a:r>
              <a:rPr lang="en-US"/>
              <a:t>En producción es común poner un agente intermedio como OpenTelemetry Collector o Grafana Alloy.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Contexto de la demo: una mini tienda. Todavía no le digo al público cuáles son los problemas; la idea es que el dashboard los muestre.</a:t>
            </a:r>
          </a:p>
          <a:p>
            <a:r>
              <a:rPr lang="en-US"/>
              <a:t>Pagos simula una dependencia externa con latencia variable (90% rápida, 8% lenta, 2% muy lenta) y cerca de 4% de timeouts. Pedidos tiene el clásico N+1 de JPA y su versión corregida. Catálogo es el control: si catálogo también estuviera lento, el problema sería de infraestructura y no de un endpoint.</a:t>
            </a:r>
          </a:p>
          <a:p>
            <a:r>
              <a:rPr lang="en-US"/>
              <a:t>Honestidad técnica: la base es H2 en memoria, tan rápida que el N+1 no se notaría. Por eso cada sentencia SQL suma 2 ms simulando la ida y vuelta de red a una base real. Es un valor conservador.</a:t>
            </a:r>
          </a:p>
          <a:p>
            <a:r>
              <a:rPr lang="en-US"/>
              <a:t>La carga: k6 con tasa de llegada constante durante 4 minutos, 9.603 requests en total.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es el dashboard real durante la prueba de carga. Leerlo como lo haría alguien de guardia:</a:t>
            </a:r>
          </a:p>
          <a:p>
            <a:r>
              <a:rPr lang="en-US"/>
              <a:t>Arriba a la izquierda, tráfico: estable, coincide con lo que manda k6. Si el tráfico cae a cero, el problema puede estar antes de la app (balanceador, DNS).</a:t>
            </a:r>
          </a:p>
          <a:p>
            <a:r>
              <a:rPr lang="en-US"/>
              <a:t>Arriba a la derecha, errores: SOLO /api/pagos tiene errores, entre 3,5% y 5,5%. Los demás endpoints están en cero, así que no es un problema general.</a:t>
            </a:r>
          </a:p>
          <a:p>
            <a:r>
              <a:rPr lang="en-US"/>
              <a:t>Abajo a la izquierda, latencia p95: pagos ronda 350-410 ms y n-mas-1 se queda en unos 224 ms, mientras optimizado y catálogo están casi en cero.</a:t>
            </a:r>
          </a:p>
          <a:p>
            <a:r>
              <a:rPr lang="en-US"/>
              <a:t>Abajo a la derecha, la pista definitiva: n-mas-1 hace 101 consultas SQL por request; optimizado hace 1.</a:t>
            </a:r>
          </a:p>
          <a:p>
            <a:r>
              <a:rPr lang="en-US"/>
              <a:t>En menos de un minuto ya sabemos qué endpoints mirar y qué tipo de problema tiene cada uno. Ahora vamos a cada cuello de botella.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Primer hallazgo, el más contraintuitivo.</a:t>
            </a:r>
          </a:p>
          <a:p>
            <a:r>
              <a:rPr lang="en-US"/>
              <a:t>Datos reales de /api/pagos: promedio 103 ms, mediana 55 ms, p95 372 ms, p99 1.574 ms y máximo 1.995 ms.</a:t>
            </a:r>
          </a:p>
          <a:p>
            <a:r>
              <a:rPr lang="en-US"/>
              <a:t>Si solo miráramos el promedio diríamos «100 ms, todo bien». La distribución tiene una cola larga: un 2% de requests tarda más de un segundo. A 20 pagos por segundo, el 1% más lento es un cliente frustrado cada 5 segundos.</a:t>
            </a:r>
          </a:p>
          <a:p>
            <a:r>
              <a:rPr lang="en-US"/>
              <a:t>Por eso se usan percentiles: el p95 dice que el 95% de los usuarios espera esto o menos; el p99 mira la cola, donde suelen estar los clientes más valiosos.</a:t>
            </a:r>
          </a:p>
          <a:p>
            <a:r>
              <a:rPr lang="en-US"/>
              <a:t>Ojo: la alerta de p95 &gt; 500 ms NO se disparó (p95 = 372 ms). Con solo p95 nos habríamos perdido la cola; conviene definir SLOs en varios percentiles.</a:t>
            </a:r>
          </a:p>
          <a:p>
            <a:r>
              <a:rPr lang="en-US"/>
              <a:t>PromQL: histogram_quantile(0.99, sum by (le, uri) (rate(http_server_requests_seconds_bucket{uri="/api/pagos"}[1m]))).</a:t>
            </a:r>
          </a:p>
          <a:p>
            <a:r>
              <a:rPr lang="en-US"/>
              <a:t>Validación cruzada: k6 midió desde el cliente p95 376 ms y p99 1.559 ms; Prometheus calculó desde el servidor 372 y 1.574 ms. Coinciden.</a:t>
            </a:r>
          </a:p>
          <a:p>
            <a:r>
              <a:rPr lang="en-US"/>
              <a:t>Solución: timeouts agresivos, circuit breaker (Resilience4j) y medir la dependencia por separado. Escalar servidores no ayuda.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N+1 es el bug de rendimiento más común con JPA/Hibernate y es invisible en desarrollo, porque con 5 registros en local no se nota.</a:t>
            </a:r>
          </a:p>
          <a:p>
            <a:r>
              <a:rPr lang="en-US"/>
              <a:t>Qué pasa: findAll() trae los 100 pedidos en 1 consulta y, al recorrer pedido.getItems(), Hibernate lanza 1 consulta por pedido porque la relación es LAZY. Total: 1 + 100 = 101.</a:t>
            </a:r>
          </a:p>
          <a:p>
            <a:r>
              <a:rPr lang="en-US"/>
              <a:t>Resultados reales: N+1 con p95 de 224 ms y 101 consultas por request; con JOIN FETCH, p95 de 5 ms y 1 consulta. Unas 45 veces más rápido con el mismo resultado.</a:t>
            </a:r>
          </a:p>
          <a:p>
            <a:r>
              <a:rPr lang="en-US"/>
              <a:t>¿Por qué lo detectamos? Por una métrica propia (consultas SQL por request) medida con un StatementInspector de Hibernate. La latencia te dice que es lento; esa métrica te dice POR QUÉ.</a:t>
            </a:r>
          </a:p>
          <a:p>
            <a:r>
              <a:rPr lang="en-US"/>
              <a:t>El log estructurado en Loki trae request_id y número de consultas. LogQL: {app="api-demo"} | json | mdc_sql_consultas &gt; 50. Línea real: «request GET /api/pedidos/n-mas-1 -&gt; 200 en 217 ms (101 consultas SQL)».</a:t>
            </a:r>
          </a:p>
          <a:p>
            <a:r>
              <a:rPr lang="en-US"/>
              <a:t>Arreglo: @Query("select distinct p from Pedido p left join fetch p.items").</a:t>
            </a:r>
          </a:p>
          <a:p>
            <a:r>
              <a:rPr lang="en-US"/>
              <a:t>Lo peligroso: el N+1 escala con los datos. Con 100 pedidos son 220 ms; con 10.000 serían segundos. La observabilidad detecta la tendencia antes de que sea incidente.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Flujo típico de un incidente, en orden:</a:t>
            </a:r>
          </a:p>
          <a:p>
            <a:r>
              <a:rPr lang="en-US"/>
              <a:t>1. La alerta. Prometheus evalúa la regla TasaErroresAlta: más del 2% de respuestas 5xx durante 1 minuto. En la prueba se disparó (estado FIRING) con 4,4% de errores en /api/pagos.</a:t>
            </a:r>
          </a:p>
          <a:p>
            <a:r>
              <a:rPr lang="en-US"/>
              <a:t>PromQL: sum by (uri)(rate(http_server_requests_seconds_count{status=~"5.."}[2m])) / sum by (uri)(rate(http_server_requests_seconds_count[2m])) &gt; 0.02</a:t>
            </a:r>
          </a:p>
          <a:p>
            <a:r>
              <a:rPr lang="en-US"/>
              <a:t>2. El dashboard acota: solo /api/pagos tiene errores; catálogo y pedidos están en cero. No es la base de datos ni la red en general.</a:t>
            </a:r>
          </a:p>
          <a:p>
            <a:r>
              <a:rPr lang="en-US"/>
              <a:t>3. Los logs explican: con LogQL {app="api-demo", level="ERROR"} todas las líneas dicen lo mismo, timeout de la pasarela. Cada línea trae request_id para buscar ese request puntual.</a:t>
            </a:r>
          </a:p>
          <a:p>
            <a:r>
              <a:rPr lang="en-US"/>
              <a:t>Números de Loki durante la prueba: 9.511 líneas INFO, 92 WARN y 213 ERROR. Los 92 WARN son requests de más de 500 ms y todos son de /api/pagos.</a:t>
            </a:r>
          </a:p>
          <a:p>
            <a:r>
              <a:rPr lang="en-US"/>
              <a:t>k6 contó 213 pagos fallidos de 4.801 y su umbral de error &lt; 2% falló: en un pipeline de CI eso bloquearía el despliegue.</a:t>
            </a:r>
          </a:p>
          <a:p>
            <a:r>
              <a:rPr lang="en-US"/>
              <a:t>La alerta es por síntoma (errores que ve el usuario), no por causa (CPU). Eso es buena práctica.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Dos recetas complementarias para decidir qué medir sin ahogarse en métricas.</a:t>
            </a:r>
          </a:p>
          <a:p>
            <a:r>
              <a:rPr lang="en-US"/>
              <a:t>RED, propuesto por Tom Wilkie (Grafana Labs), es para servicios orientados a requests: tasa, errores y duración. Es la vista del usuario. Nuestro dashboard tiene exactamente esas filas.</a:t>
            </a:r>
          </a:p>
          <a:p>
            <a:r>
              <a:rPr lang="en-US"/>
              <a:t>USE, de Brendan Gregg, es para recursos: utilización, saturación y errores de CPU, memoria, hilos y conexiones.</a:t>
            </a:r>
          </a:p>
          <a:p>
            <a:r>
              <a:rPr lang="en-US"/>
              <a:t>Usarlos juntos evita un error clásico. En la demo, RED mostró dos endpoints con problemas y USE mostró que la JVM estaba tranquila: heap bajo, máximo 5 de 50 hilos de Tomcat ocupados, CPU por debajo del 6%.</a:t>
            </a:r>
          </a:p>
          <a:p>
            <a:r>
              <a:rPr lang="en-US"/>
              <a:t>Conclusión: si la reacción hubiera sido «subamos más réplicas», habríamos gastado plata sin arreglar nada. El problema era un patrón de acceso a datos y una dependencia externa.</a:t>
            </a:r>
          </a:p>
          <a:p>
            <a:r>
              <a:rPr lang="en-US"/>
              <a:t>Mencionar las Golden Signals de Google SRE (latencia, tráfico, errores, saturación): son básicamente RED más la S de USE.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Recorrer rápido, cada punto conectado con la demo.</a:t>
            </a:r>
          </a:p>
          <a:p>
            <a:r>
              <a:rPr lang="en-US"/>
              <a:t>1. Logs estructurados: gracias al JSON pudimos filtrar con | json | mdc_sql_consultas &gt; 50. Con texto plano habría sido una expresión regular frágil.</a:t>
            </a:r>
          </a:p>
          <a:p>
            <a:r>
              <a:rPr lang="en-US"/>
              <a:t>2. Percentiles: lo vimos en la slide del promedio que miente. Activa percentiles-histogram en Micrometer.</a:t>
            </a:r>
          </a:p>
          <a:p>
            <a:r>
              <a:rPr lang="en-US"/>
              <a:t>3. Alertar por síntomas: nuestra alerta es de tasa de errores, no de CPU. Al que está de guardia lo despiertas solo si el usuario sufre.</a:t>
            </a:r>
          </a:p>
          <a:p>
            <a:r>
              <a:rPr lang="en-US"/>
              <a:t>4. Cardinalidad: Micrometer etiqueta con la plantilla de la URI, no con la URI real. Si pusieras el id de pedido como etiqueta, tendrías una serie por pedido y Prometheus se cae.</a:t>
            </a:r>
          </a:p>
          <a:p>
            <a:r>
              <a:rPr lang="en-US"/>
              <a:t>5. Métricas de negocio: el contador pagos.procesados le habla al product owner, no solo al ingeniero.</a:t>
            </a:r>
          </a:p>
          <a:p>
            <a:r>
              <a:rPr lang="en-US"/>
              <a:t>6. Como código: todo el stack de la demo se levanta con docker compose y queda versionado. Un dashboard hecho a mano en producción se pierde.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espejo de la slide anterior.</a:t>
            </a:r>
          </a:p>
          <a:p>
            <a:r>
              <a:rPr lang="en-US"/>
              <a:t>Cardinalidad: es el error número uno que tumba Prometheus. Cada combinación única de etiquetas es una serie de tiempo; un userId como etiqueta con un millón de usuarios son un millón de series. En Loki pasa igual: por eso en la demo solo usamos app y level como etiquetas y el resto (uri, duración, request_id) va dentro del JSON.</a:t>
            </a:r>
          </a:p>
          <a:p>
            <a:r>
              <a:rPr lang="en-US"/>
              <a:t>Ruido: si una alerta suena y la respuesta es «ah, esa siempre suena», hay que borrarla o arreglarla. Un dashboard sin pregunta detrás es decoración cara.</a:t>
            </a:r>
          </a:p>
          <a:p>
            <a:r>
              <a:rPr lang="en-US"/>
              <a:t>Loguear todo o nada: DEBUG en producción o datos personales en logs. En Colombia la Ley 1581 de protección de datos también aplica a los logs.</a:t>
            </a:r>
          </a:p>
          <a:p>
            <a:r>
              <a:rPr lang="en-US"/>
              <a:t>Ceguera: el promedio oculta la cola (103 ms de promedio con p99 de 1.574 ms en la demo). Y la telemetría que no existía cuando pasó el incidente no sirve para explicarlo: hay que instrumentar antes.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Transición al taller (20 minutos). Compartir el enlace de la guía TALLER.md y del repositorio antes de esta slide, por ejemplo en el chat del curso.</a:t>
            </a:r>
          </a:p>
          <a:p>
            <a:r>
              <a:rPr lang="en-US"/>
              <a:t>Ritmo: 4 a 6 minutos para que todos tengan Grafana abierto. Quien no lo logre se empareja con un compañero; no detener al grupo.</a:t>
            </a:r>
          </a:p>
          <a:p>
            <a:r>
              <a:rPr lang="en-US"/>
              <a:t>Las tres misiones repiten lo que acabamos de ver, pero ahora ellos escriben las consultas. Los números no van a ser idénticos a los de las slides (la latencia es aleatoria), pero deben quedar en el mismo orden de magnitud: p99 de pagos mayor a 1 s, 101 consultas en n-mas-1, cerca de 4% de errores.</a:t>
            </a:r>
          </a:p>
          <a:p>
            <a:r>
              <a:rPr lang="en-US"/>
              <a:t>Reto final: agregar una regla de alerta de p99 &gt; 1 s en infra/prometheus/alertas.yml, recargar Prometheus (curl -X POST localhost:9090/-/reload) y verla pasar a FIRING. Lo probé contra la demo y se dispara para /api/pagos.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Cierre después del taller: comparar los números que encontraron con los de las slides y abrir preguntas.</a:t>
            </a:r>
          </a:p>
          <a:p>
            <a:r>
              <a:rPr lang="en-US"/>
              <a:t>Preguntas probables:</a:t>
            </a:r>
          </a:p>
          <a:p>
            <a:r>
              <a:rPr lang="en-US"/>
              <a:t>Prometheus vs APM comercial (Datadog, New Relic): los conceptos (RED, percentiles, logs estructurados) son los mismos. La diferencia es quién opera la plataforma y cuánto cuesta. OpenTelemetry/Micrometer permite cambiar de backend sin tocar el código.</a:t>
            </a:r>
          </a:p>
          <a:p>
            <a:r>
              <a:rPr lang="en-US"/>
              <a:t>¿Por qué pull? Si el servicio muere, Prometheus lo sabe porque la métrica up pasa a 0. Para trabajos batch cortos existe el Pushgateway.</a:t>
            </a:r>
          </a:p>
          <a:p>
            <a:r>
              <a:rPr lang="en-US"/>
              <a:t>Loki vs Elasticsearch: Elasticsearch indexa todo el texto; Loki solo las etiquetas y comprime los chunks. Más barato; a cambio, la búsqueda de texto libre en mucho volumen es más lenta.</a:t>
            </a:r>
          </a:p>
          <a:p>
            <a:r>
              <a:rPr lang="en-US"/>
              <a:t>Overhead: el de Micrometer es despreciable; lo que cuesta es el volumen de logs y la cardinalidad.</a:t>
            </a:r>
          </a:p>
          <a:p>
            <a:r>
              <a:rPr lang="en-US"/>
              <a:t>Trazas: siguiente paso con Micrometer Tracing + OpenTelemetry + Grafana Tempo; el traceId va en el log para saltar de log a traza.</a:t>
            </a:r>
          </a:p>
          <a:p>
            <a:r>
              <a:rPr lang="en-US"/>
              <a:t>¿JOIN FETCH siempre? No: con colecciones grandes o paginación conviene @EntityGraph, batch fetching o una consulta DTO.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1704" y="2422043"/>
            <a:ext cx="10169694" cy="250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4"/>
              </a:lnSpc>
              <a:spcBef>
                <a:spcPct val="0"/>
              </a:spcBef>
            </a:pPr>
            <a:r>
              <a:rPr lang="en-US" b="true" sz="81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OBSERVABILIDAD EN SPRING BOOT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1568" y="5267325"/>
            <a:ext cx="10738439" cy="6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Prometheus · Loki · Grafana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14835" y="2086918"/>
            <a:ext cx="10894849" cy="93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7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¿QUÉ ES OBSERVABILIDAD?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14835" y="3898486"/>
            <a:ext cx="10894849" cy="3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Es la capacidad de entender el estado interno de un sistema a partir de las señales que emite, incluso ante preguntas que no anticipaste.</a:t>
            </a:r>
          </a:p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Viene de la teoría de control (Kalman, 1960): un sistema es observable si sus salidas permiten inferir su estado.</a:t>
            </a:r>
          </a:p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En software esas salidas son métricas, logs y trazas. La prueba de fuego: si para entender un problema nuevo tienes que agregar un log y redesplegar, te falta observabilidad.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5619092" y="110527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6653" y="685800"/>
            <a:ext cx="10894849" cy="167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5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MONITOREO VS. OBSERVABILIDAD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3532" y="3743325"/>
            <a:ext cx="8868773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Monitoreo responde «¿está funcionando?». Vigila problemas que ya conoces con umbrales y alertas. Ejemplo: la CPU pasa del 80% y suena una alerta.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720815">
            <a:off x="-5386022" y="56356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15740" y="3810000"/>
            <a:ext cx="947448" cy="947448"/>
          </a:xfrm>
          <a:custGeom>
            <a:avLst/>
            <a:gdLst/>
            <a:ahLst/>
            <a:cxnLst/>
            <a:rect r="r" b="b" t="t" l="l"/>
            <a:pathLst>
              <a:path h="947448" w="947448">
                <a:moveTo>
                  <a:pt x="0" y="0"/>
                </a:moveTo>
                <a:lnTo>
                  <a:pt x="947448" y="0"/>
                </a:lnTo>
                <a:lnTo>
                  <a:pt x="947448" y="947448"/>
                </a:lnTo>
                <a:lnTo>
                  <a:pt x="0" y="947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3532" y="6219825"/>
            <a:ext cx="8868773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Observabilidad responde «¿por qué se comporta así?». Te deja investigar problemas nuevos con telemetría rica. Ejemplo: el p99 de /pagos sube solo cuando responde una pasarela.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15740" y="6286500"/>
            <a:ext cx="947448" cy="947448"/>
          </a:xfrm>
          <a:custGeom>
            <a:avLst/>
            <a:gdLst/>
            <a:ahLst/>
            <a:cxnLst/>
            <a:rect r="r" b="b" t="t" l="l"/>
            <a:pathLst>
              <a:path h="947448" w="947448">
                <a:moveTo>
                  <a:pt x="0" y="0"/>
                </a:moveTo>
                <a:lnTo>
                  <a:pt x="947448" y="0"/>
                </a:lnTo>
                <a:lnTo>
                  <a:pt x="947448" y="947448"/>
                </a:lnTo>
                <a:lnTo>
                  <a:pt x="0" y="947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5931" y="4333767"/>
            <a:ext cx="10095082" cy="2543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6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Sí, desde el día uno: microservicios, dependencias externas (pagos, APIs de terceros), SLOs que cumplir, varios equipos sobre el mismo sistema y despliegues frecuentes.</a:t>
            </a:r>
          </a:p>
          <a:p>
            <a:pPr algn="l" marL="0" indent="0" lvl="0">
              <a:lnSpc>
                <a:spcPts val="290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06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Con mesura: en un prototipo o un monolito pequeño, Actuator y logs estructurados ya alcanzan. La telemetría también cuesta (disco, cardinalidad), así que empieza por RED en los endpoints críticos.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959150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6048" y="1974386"/>
            <a:ext cx="1089484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9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¿CUÁNDO USARLA?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685119"/>
            <a:ext cx="1089484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LOS TRES PILARES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39050" y="5981700"/>
            <a:ext cx="4230126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Eventos con contexto: qué pasó en este request. Si son JSON, se consultan como datos.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30100" y="4600575"/>
            <a:ext cx="4656668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El recorrido de un request entre servicios: dónde se fue el tiempo. Clave en microservicios.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8900" y="4600575"/>
            <a:ext cx="4656668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Números agregados en el tiempo: cuánto, qué tan rápido, qué porcentaje. Baratas e ideales para alertar.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2875" y="7239000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6575" y="7239000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61649" y="439110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28900" y="3771900"/>
            <a:ext cx="4572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MÉTRICAS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9050" y="5153025"/>
            <a:ext cx="4191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LOGS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0100" y="3771900"/>
            <a:ext cx="4572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TRAZAS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4714869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4000" y="8105775"/>
            <a:ext cx="15240000" cy="7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6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Prometheus va por las métricas cada 5 s (pull). Los logs JSON viajan a Loki (push). Grafana consulta ambos con PromQL y LogQL. Todo se levanta con docker compose.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676275"/>
            <a:ext cx="15240000" cy="103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81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ARQUITECTURA DE LA DEMO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8596510">
            <a:off x="11034248" y="-140477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Diagrama: k6 envía carga a la API Spring Boot; Prometheus hace scrape de /actuator/prometheus; los logs van por push a Loki; Grafana consulta ambos"/>
          <p:cNvSpPr/>
          <p:nvPr/>
        </p:nvSpPr>
        <p:spPr>
          <a:xfrm flipH="false" flipV="false" rot="0">
            <a:off x="1524000" y="2190750"/>
            <a:ext cx="15240000" cy="5467350"/>
          </a:xfrm>
          <a:custGeom>
            <a:avLst/>
            <a:gdLst/>
            <a:ahLst/>
            <a:cxnLst/>
            <a:rect r="r" b="b" t="t" l="l"/>
            <a:pathLst>
              <a:path h="5467350" w="15240000">
                <a:moveTo>
                  <a:pt x="0" y="0"/>
                </a:moveTo>
                <a:lnTo>
                  <a:pt x="15240000" y="0"/>
                </a:lnTo>
                <a:lnTo>
                  <a:pt x="15240000" y="5467350"/>
                </a:lnTo>
                <a:lnTo>
                  <a:pt x="0" y="5467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4" t="0" r="-17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5314" y="4479361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606679"/>
            <a:ext cx="9615222" cy="194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81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LA DEMO: UNA TIENDA CON TRAMPAS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15722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POST /api/pagos llama a una pasarela externa que a veces es lenta y falla cerca del 4% de las veces (20 req/s).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56350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/api/pedidos/n-mas-1 y /optimizado devuelven los mismos 100 pedidos: uno con N+1 y otro con JOIN FETCH (5 req/s cada uno).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401685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k6 envió 9.603 requests en 4 minutos (unos 40 por segundo). /api/catalogo es el control sano (10 req/s).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05314" y="6019989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89881" y="7657146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000" y="971550"/>
            <a:ext cx="11906250" cy="93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7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EL DASHBOARD EN GRAFANA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4000" y="7248525"/>
            <a:ext cx="12192000" cy="7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6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Datos reales de la prueba de carga: solo /api/pagos tiene errores, su p95 ronda los 400 ms y /api/pedidos/n-mas-1 hace 101 consultas SQL por request.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5619092" y="110527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Dashboard real de Grafana: tráfico por endpoint, tasa de errores 5xx, latencia p95 y consultas SQL por request"/>
          <p:cNvSpPr/>
          <p:nvPr/>
        </p:nvSpPr>
        <p:spPr>
          <a:xfrm flipH="false" flipV="false" rot="0">
            <a:off x="5334000" y="2381250"/>
            <a:ext cx="12192000" cy="4448175"/>
          </a:xfrm>
          <a:custGeom>
            <a:avLst/>
            <a:gdLst/>
            <a:ahLst/>
            <a:cxnLst/>
            <a:rect r="r" b="b" t="t" l="l"/>
            <a:pathLst>
              <a:path h="4448175" w="12192000">
                <a:moveTo>
                  <a:pt x="0" y="0"/>
                </a:moveTo>
                <a:lnTo>
                  <a:pt x="12192000" y="0"/>
                </a:lnTo>
                <a:lnTo>
                  <a:pt x="12192000" y="4448175"/>
                </a:lnTo>
                <a:lnTo>
                  <a:pt x="0" y="4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" r="0" b="-2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41974" y="4178708"/>
            <a:ext cx="8975409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191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En /api/pagos el promedio es 103 ms, pero el p99 llega a 1.574 ms: 1 de cada 100 pagos tarda más de 1,5 segundos.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10149532">
            <a:off x="-3580585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29211">
            <a:off x="14707415" y="-428032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22883" y="1265487"/>
            <a:ext cx="10894849" cy="194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81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CUELLO 1: EL PROMEDIO MIENTE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1974" y="6578754"/>
            <a:ext cx="8975409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191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La causa es la pasarela externa, no el servidor: máximo 5 de 50 hilos ocupados y CPU bajo 6%. k6 midió lo mismo desde el cliente (p99 de 1.559 ms).</a:t>
            </a:r>
          </a:p>
        </p:txBody>
      </p:sp>
      <p:sp>
        <p:nvSpPr>
          <p:cNvPr name="Freeform 7" id="7" descr="Latencia de /api/pagos: promedio 103 ms, mediana 55 ms, p95 372 ms, p99 1.574 ms, máximo 1.995 ms"/>
          <p:cNvSpPr/>
          <p:nvPr/>
        </p:nvSpPr>
        <p:spPr>
          <a:xfrm flipH="false" flipV="false" rot="0">
            <a:off x="381000" y="3714750"/>
            <a:ext cx="6762750" cy="4799371"/>
          </a:xfrm>
          <a:custGeom>
            <a:avLst/>
            <a:gdLst/>
            <a:ahLst/>
            <a:cxnLst/>
            <a:rect r="r" b="b" t="t" l="l"/>
            <a:pathLst>
              <a:path h="4799371" w="6762750">
                <a:moveTo>
                  <a:pt x="0" y="0"/>
                </a:moveTo>
                <a:lnTo>
                  <a:pt x="6762750" y="0"/>
                </a:lnTo>
                <a:lnTo>
                  <a:pt x="6762750" y="4799371"/>
                </a:lnTo>
                <a:lnTo>
                  <a:pt x="0" y="4799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53" t="-2250" r="-2253" b="-225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5619092" y="110527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0225" y="1343025"/>
            <a:ext cx="121920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39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CUELLO 2: EL PROBLEMA N+1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10225" y="3438525"/>
            <a:ext cx="6552437" cy="353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/api/pedidos/n-mas-1 hace 101 consultas SQL por request: 1 para los pedidos y 1 más por cada uno, porque la relación es LAZY.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Con JOIN FETCH es una sola consulta y el p95 baja de 224 ms a 5 ms: unas 45 veces más rápido.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Lo delató una métrica propia y el log JSON con mdc_sql_consultas = 101.</a:t>
            </a:r>
          </a:p>
        </p:txBody>
      </p:sp>
      <p:sp>
        <p:nvSpPr>
          <p:cNvPr name="Freeform 5" id="5" descr="101 consultas SQL por request con N+1 contra 1 con JOIN FETCH; latencia p95 de 224 ms contra 5 ms"/>
          <p:cNvSpPr/>
          <p:nvPr/>
        </p:nvSpPr>
        <p:spPr>
          <a:xfrm flipH="false" flipV="false" rot="0">
            <a:off x="12287250" y="3810000"/>
            <a:ext cx="5524500" cy="4381500"/>
          </a:xfrm>
          <a:custGeom>
            <a:avLst/>
            <a:gdLst/>
            <a:ahLst/>
            <a:cxnLst/>
            <a:rect r="r" b="b" t="t" l="l"/>
            <a:pathLst>
              <a:path h="4381500" w="5524500">
                <a:moveTo>
                  <a:pt x="0" y="0"/>
                </a:moveTo>
                <a:lnTo>
                  <a:pt x="5524500" y="0"/>
                </a:lnTo>
                <a:lnTo>
                  <a:pt x="55245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" t="0" r="-38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54424" y="1459858"/>
            <a:ext cx="3804876" cy="3547520"/>
            <a:chOff x="0" y="0"/>
            <a:chExt cx="812800" cy="757823"/>
          </a:xfrm>
        </p:grpSpPr>
        <p:sp>
          <p:nvSpPr>
            <p:cNvPr name="Freeform 4" id="4" descr="Panel de Grafana con la tasa de errores 5xx de /api/pagos entre 3,5% y 5,5%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5"/>
              <a:stretch>
                <a:fillRect l="-64752" t="0" r="-6475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54424" y="5279623"/>
            <a:ext cx="3804876" cy="3547520"/>
            <a:chOff x="0" y="0"/>
            <a:chExt cx="812800" cy="757823"/>
          </a:xfrm>
        </p:grpSpPr>
        <p:sp>
          <p:nvSpPr>
            <p:cNvPr name="Freeform 6" id="6" descr="Logs de warnings y errores en Loki: timeouts de la pasarela de pagos y requests lentos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6"/>
              <a:stretch>
                <a:fillRect l="-64752" t="0" r="-6475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829272" y="3519317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9272" y="5478561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29272" y="743347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9272" y="1355083"/>
            <a:ext cx="1089484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9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DE LA ALERTA AL 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28" y="3076709"/>
            <a:ext cx="91440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La alerta TasaErroresAlta se disparó: falló el 4,4% de los pagos (213 de 4.801) y el umbral era 2%.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5628" y="5035952"/>
            <a:ext cx="91440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El dashboard acota el problema: solo /api/pagos tiene errores; pedidos y catálogo están en cero.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5628" y="6990863"/>
            <a:ext cx="91440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Loki explica el porqué: «La pasarela de pagos respondio timeout», y cada línea trae su request_id.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6653" y="962025"/>
            <a:ext cx="10894849" cy="103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81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RED Y USE: QUÉ MEDIR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3532" y="3267075"/>
            <a:ext cx="8868773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RED, para servicios: Rate, Errors, Duration. Es la vista del usuario. En la demo marcó /pagos (cola y errores) y /pedidos/n-mas-1 (lento).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720815">
            <a:off x="-5386022" y="56356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15740" y="3333750"/>
            <a:ext cx="947448" cy="947448"/>
          </a:xfrm>
          <a:custGeom>
            <a:avLst/>
            <a:gdLst/>
            <a:ahLst/>
            <a:cxnLst/>
            <a:rect r="r" b="b" t="t" l="l"/>
            <a:pathLst>
              <a:path h="947448" w="947448">
                <a:moveTo>
                  <a:pt x="0" y="0"/>
                </a:moveTo>
                <a:lnTo>
                  <a:pt x="947448" y="0"/>
                </a:lnTo>
                <a:lnTo>
                  <a:pt x="947448" y="947448"/>
                </a:lnTo>
                <a:lnTo>
                  <a:pt x="0" y="947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3532" y="5934075"/>
            <a:ext cx="8868773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USE, para recursos: Utilization, Saturation, Errors. La JVM estaba sana: heap bajo 145 MiB, 5 de 50 hilos y CPU bajo 6%. Escalar servidores no lo habría arreglado.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15740" y="6000750"/>
            <a:ext cx="947448" cy="947448"/>
          </a:xfrm>
          <a:custGeom>
            <a:avLst/>
            <a:gdLst/>
            <a:ahLst/>
            <a:cxnLst/>
            <a:rect r="r" b="b" t="t" l="l"/>
            <a:pathLst>
              <a:path h="947448" w="947448">
                <a:moveTo>
                  <a:pt x="0" y="0"/>
                </a:moveTo>
                <a:lnTo>
                  <a:pt x="947448" y="0"/>
                </a:lnTo>
                <a:lnTo>
                  <a:pt x="947448" y="947448"/>
                </a:lnTo>
                <a:lnTo>
                  <a:pt x="0" y="947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54424" y="1459858"/>
            <a:ext cx="3804876" cy="3547520"/>
            <a:chOff x="0" y="0"/>
            <a:chExt cx="812800" cy="7578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5"/>
              <a:stretch>
                <a:fillRect l="-19863" t="0" r="-1986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54424" y="5279623"/>
            <a:ext cx="3804876" cy="3547520"/>
            <a:chOff x="0" y="0"/>
            <a:chExt cx="812800" cy="757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6"/>
              <a:stretch>
                <a:fillRect l="-32977" t="0" r="-3297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829272" y="3519317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9272" y="5478561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29272" y="743347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9272" y="1355083"/>
            <a:ext cx="1089484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9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BUENAS PRÁCTICAS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28" y="3076709"/>
            <a:ext cx="100965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Logs en JSON con contexto (request_id, uri, duración) y percentiles con histogramas: SLOs en p95 y p99, nunca en el promedio.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5628" y="5035952"/>
            <a:ext cx="100965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Alerta por síntomas que ve el usuario (errores, latencia) e investiga por causas. Etiquetas de baja cardinalidad: /pedidos/{id}, nunca el id.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5628" y="6990863"/>
            <a:ext cx="10096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Mide también el negocio (pagos aprobados y fallidos) y versiona dashboards, datasources y alertas en Git.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685119"/>
            <a:ext cx="1089484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ERRORES COMUNES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39050" y="5981700"/>
            <a:ext cx="4230126" cy="199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Alertas sin acción clara que el equipo termina silenciando, y dashboards de 40 paneles que nadie mira.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30100" y="4600575"/>
            <a:ext cx="4656668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Confiar en el promedio (103 ms con un p99 de 1.574 ms) e instrumentar solo después del incidente.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8900" y="4600575"/>
            <a:ext cx="4656668" cy="159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userId o requestId como etiqueta: millones de series y Prometheus se cae. Lo mismo pasa con Loki.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2875" y="7239000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6575" y="7239000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61649" y="439110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28900" y="3771900"/>
            <a:ext cx="4572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CARDINALIDAD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9050" y="5153025"/>
            <a:ext cx="4191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RUIDO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0100" y="3771900"/>
            <a:ext cx="45720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005FC2"/>
                </a:solidFill>
                <a:latin typeface="Arimo Bold"/>
                <a:ea typeface="Arimo Bold"/>
                <a:cs typeface="Arimo Bold"/>
                <a:sym typeface="Arimo Bold"/>
              </a:rPr>
              <a:t>CEGUERA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5314" y="4479361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606679"/>
            <a:ext cx="9615222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9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TALLER: AHORA LO ENCUENTRAN USTEDES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15722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Minutos 0 a 6: abren un GitHub Codespace (o Docker local), corren docker compose up y lanzan la carga con k6.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56350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Minutos 6 a 16: tres misiones. La cola de latencia (PromQL), cazar el N+1 (LogQL) y de la alerta al request_id.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401685"/>
            <a:ext cx="10580784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Minutos 16 a 20: reto. Crear una alerta de p99 mayor a 1 s y verla dispararse. La guía paso a paso está en TALLER.md.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05314" y="6019989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89881" y="7657146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0" y="3590925"/>
            <a:ext cx="11430000" cy="144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17"/>
              </a:lnSpc>
              <a:spcBef>
                <a:spcPct val="0"/>
              </a:spcBef>
            </a:pPr>
            <a:r>
              <a:rPr lang="en-US" b="true" sz="8699" strike="noStrike" u="none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¿PREGUNTAS?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1572" y="5448300"/>
            <a:ext cx="8365383" cy="62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4297" strike="noStrike" u="none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Gracias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DAHX0jbDFb8</dc:identifier>
  <dcterms:modified xsi:type="dcterms:W3CDTF">2011-08-01T06:04:30Z</dcterms:modified>
  <cp:revision>1</cp:revision>
  <dc:title>Observabilidad en Spring Boot - Prometheus, Loki y Grafana</dc:title>
</cp:coreProperties>
</file>